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DM Sans Bold" charset="1" panose="00000000000000000000"/>
      <p:regular r:id="rId17"/>
    </p:embeddedFont>
    <p:embeddedFont>
      <p:font typeface="DM Sans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24" Target="../media/image23.png" Type="http://schemas.openxmlformats.org/officeDocument/2006/relationships/image"/><Relationship Id="rId25" Target="../media/image24.svg" Type="http://schemas.openxmlformats.org/officeDocument/2006/relationships/image"/><Relationship Id="rId26" Target="../media/image25.png" Type="http://schemas.openxmlformats.org/officeDocument/2006/relationships/image"/><Relationship Id="rId27" Target="../media/image26.svg" Type="http://schemas.openxmlformats.org/officeDocument/2006/relationships/image"/><Relationship Id="rId28" Target="../media/image27.png" Type="http://schemas.openxmlformats.org/officeDocument/2006/relationships/image"/><Relationship Id="rId29" Target="../media/image28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12" Target="../media/image25.png" Type="http://schemas.openxmlformats.org/officeDocument/2006/relationships/image"/><Relationship Id="rId13" Target="../media/image26.svg" Type="http://schemas.openxmlformats.org/officeDocument/2006/relationships/image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19.png" Type="http://schemas.openxmlformats.org/officeDocument/2006/relationships/image"/><Relationship Id="rId13" Target="../media/image20.svg" Type="http://schemas.openxmlformats.org/officeDocument/2006/relationships/image"/><Relationship Id="rId14" Target="../media/image23.png" Type="http://schemas.openxmlformats.org/officeDocument/2006/relationships/image"/><Relationship Id="rId15" Target="../media/image24.svg" Type="http://schemas.openxmlformats.org/officeDocument/2006/relationships/image"/><Relationship Id="rId16" Target="../media/image27.png" Type="http://schemas.openxmlformats.org/officeDocument/2006/relationships/image"/><Relationship Id="rId17" Target="../media/image2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33.pn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14" Target="../media/image15.png" Type="http://schemas.openxmlformats.org/officeDocument/2006/relationships/image"/><Relationship Id="rId15" Target="../media/image16.svg" Type="http://schemas.openxmlformats.org/officeDocument/2006/relationships/image"/><Relationship Id="rId16" Target="../media/image17.png" Type="http://schemas.openxmlformats.org/officeDocument/2006/relationships/image"/><Relationship Id="rId17" Target="../media/image18.svg" Type="http://schemas.openxmlformats.org/officeDocument/2006/relationships/image"/><Relationship Id="rId18" Target="../media/image19.png" Type="http://schemas.openxmlformats.org/officeDocument/2006/relationships/image"/><Relationship Id="rId19" Target="../media/image20.svg" Type="http://schemas.openxmlformats.org/officeDocument/2006/relationships/image"/><Relationship Id="rId2" Target="../media/image1.png" Type="http://schemas.openxmlformats.org/officeDocument/2006/relationships/image"/><Relationship Id="rId20" Target="../media/image21.png" Type="http://schemas.openxmlformats.org/officeDocument/2006/relationships/image"/><Relationship Id="rId21" Target="../media/image22.svg" Type="http://schemas.openxmlformats.org/officeDocument/2006/relationships/image"/><Relationship Id="rId22" Target="../media/image23.png" Type="http://schemas.openxmlformats.org/officeDocument/2006/relationships/image"/><Relationship Id="rId23" Target="../media/image24.svg" Type="http://schemas.openxmlformats.org/officeDocument/2006/relationships/image"/><Relationship Id="rId24" Target="../media/image25.png" Type="http://schemas.openxmlformats.org/officeDocument/2006/relationships/image"/><Relationship Id="rId25" Target="../media/image26.svg" Type="http://schemas.openxmlformats.org/officeDocument/2006/relationships/image"/><Relationship Id="rId26" Target="../media/image27.png" Type="http://schemas.openxmlformats.org/officeDocument/2006/relationships/image"/><Relationship Id="rId27" Target="../media/image28.svg" Type="http://schemas.openxmlformats.org/officeDocument/2006/relationships/image"/><Relationship Id="rId28" Target="../media/image34.png" Type="http://schemas.openxmlformats.org/officeDocument/2006/relationships/image"/><Relationship Id="rId29" Target="../media/image35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14" Target="../media/image15.png" Type="http://schemas.openxmlformats.org/officeDocument/2006/relationships/image"/><Relationship Id="rId15" Target="../media/image16.svg" Type="http://schemas.openxmlformats.org/officeDocument/2006/relationships/image"/><Relationship Id="rId16" Target="../media/image17.png" Type="http://schemas.openxmlformats.org/officeDocument/2006/relationships/image"/><Relationship Id="rId17" Target="../media/image18.svg" Type="http://schemas.openxmlformats.org/officeDocument/2006/relationships/image"/><Relationship Id="rId18" Target="../media/image19.png" Type="http://schemas.openxmlformats.org/officeDocument/2006/relationships/image"/><Relationship Id="rId19" Target="../media/image20.svg" Type="http://schemas.openxmlformats.org/officeDocument/2006/relationships/image"/><Relationship Id="rId2" Target="../media/image1.png" Type="http://schemas.openxmlformats.org/officeDocument/2006/relationships/image"/><Relationship Id="rId20" Target="../media/image21.png" Type="http://schemas.openxmlformats.org/officeDocument/2006/relationships/image"/><Relationship Id="rId21" Target="../media/image22.svg" Type="http://schemas.openxmlformats.org/officeDocument/2006/relationships/image"/><Relationship Id="rId22" Target="../media/image23.png" Type="http://schemas.openxmlformats.org/officeDocument/2006/relationships/image"/><Relationship Id="rId23" Target="../media/image24.svg" Type="http://schemas.openxmlformats.org/officeDocument/2006/relationships/image"/><Relationship Id="rId24" Target="../media/image25.png" Type="http://schemas.openxmlformats.org/officeDocument/2006/relationships/image"/><Relationship Id="rId25" Target="../media/image26.svg" Type="http://schemas.openxmlformats.org/officeDocument/2006/relationships/image"/><Relationship Id="rId26" Target="../media/image27.png" Type="http://schemas.openxmlformats.org/officeDocument/2006/relationships/image"/><Relationship Id="rId27" Target="../media/image28.svg" Type="http://schemas.openxmlformats.org/officeDocument/2006/relationships/image"/><Relationship Id="rId28" Target="../media/image36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37.png" Type="http://schemas.openxmlformats.org/officeDocument/2006/relationships/image"/><Relationship Id="rId5" Target="../media/image3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12" Target="../media/image27.png" Type="http://schemas.openxmlformats.org/officeDocument/2006/relationships/image"/><Relationship Id="rId13" Target="../media/image28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14" Target="../media/image15.png" Type="http://schemas.openxmlformats.org/officeDocument/2006/relationships/image"/><Relationship Id="rId15" Target="../media/image16.svg" Type="http://schemas.openxmlformats.org/officeDocument/2006/relationships/image"/><Relationship Id="rId16" Target="../media/image17.png" Type="http://schemas.openxmlformats.org/officeDocument/2006/relationships/image"/><Relationship Id="rId17" Target="../media/image18.svg" Type="http://schemas.openxmlformats.org/officeDocument/2006/relationships/image"/><Relationship Id="rId18" Target="../media/image19.png" Type="http://schemas.openxmlformats.org/officeDocument/2006/relationships/image"/><Relationship Id="rId19" Target="../media/image20.svg" Type="http://schemas.openxmlformats.org/officeDocument/2006/relationships/image"/><Relationship Id="rId2" Target="../media/image1.png" Type="http://schemas.openxmlformats.org/officeDocument/2006/relationships/image"/><Relationship Id="rId20" Target="../media/image21.png" Type="http://schemas.openxmlformats.org/officeDocument/2006/relationships/image"/><Relationship Id="rId21" Target="../media/image22.svg" Type="http://schemas.openxmlformats.org/officeDocument/2006/relationships/image"/><Relationship Id="rId22" Target="../media/image23.png" Type="http://schemas.openxmlformats.org/officeDocument/2006/relationships/image"/><Relationship Id="rId23" Target="../media/image24.svg" Type="http://schemas.openxmlformats.org/officeDocument/2006/relationships/image"/><Relationship Id="rId24" Target="../media/image25.png" Type="http://schemas.openxmlformats.org/officeDocument/2006/relationships/image"/><Relationship Id="rId25" Target="../media/image26.svg" Type="http://schemas.openxmlformats.org/officeDocument/2006/relationships/image"/><Relationship Id="rId26" Target="../media/image27.png" Type="http://schemas.openxmlformats.org/officeDocument/2006/relationships/image"/><Relationship Id="rId27" Target="../media/image28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29398" y="8614893"/>
            <a:ext cx="4899948" cy="3344214"/>
          </a:xfrm>
          <a:custGeom>
            <a:avLst/>
            <a:gdLst/>
            <a:ahLst/>
            <a:cxnLst/>
            <a:rect r="r" b="b" t="t" l="l"/>
            <a:pathLst>
              <a:path h="3344214" w="4899948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030709" y="9258300"/>
            <a:ext cx="3059829" cy="751049"/>
          </a:xfrm>
          <a:custGeom>
            <a:avLst/>
            <a:gdLst/>
            <a:ahLst/>
            <a:cxnLst/>
            <a:rect r="r" b="b" t="t" l="l"/>
            <a:pathLst>
              <a:path h="751049" w="3059829">
                <a:moveTo>
                  <a:pt x="0" y="0"/>
                </a:moveTo>
                <a:lnTo>
                  <a:pt x="3059829" y="0"/>
                </a:lnTo>
                <a:lnTo>
                  <a:pt x="3059829" y="751049"/>
                </a:lnTo>
                <a:lnTo>
                  <a:pt x="0" y="7510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236705" y="6409875"/>
            <a:ext cx="724985" cy="920616"/>
          </a:xfrm>
          <a:custGeom>
            <a:avLst/>
            <a:gdLst/>
            <a:ahLst/>
            <a:cxnLst/>
            <a:rect r="r" b="b" t="t" l="l"/>
            <a:pathLst>
              <a:path h="920616" w="724985">
                <a:moveTo>
                  <a:pt x="0" y="0"/>
                </a:moveTo>
                <a:lnTo>
                  <a:pt x="724986" y="0"/>
                </a:lnTo>
                <a:lnTo>
                  <a:pt x="724986" y="920616"/>
                </a:lnTo>
                <a:lnTo>
                  <a:pt x="0" y="920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215205" y="8540136"/>
            <a:ext cx="4602314" cy="3618569"/>
          </a:xfrm>
          <a:custGeom>
            <a:avLst/>
            <a:gdLst/>
            <a:ahLst/>
            <a:cxnLst/>
            <a:rect r="r" b="b" t="t" l="l"/>
            <a:pathLst>
              <a:path h="3618569" w="4602314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-674156" y="-1072630"/>
            <a:ext cx="4899948" cy="3068592"/>
          </a:xfrm>
          <a:custGeom>
            <a:avLst/>
            <a:gdLst/>
            <a:ahLst/>
            <a:cxnLst/>
            <a:rect r="r" b="b" t="t" l="l"/>
            <a:pathLst>
              <a:path h="3068592" w="4899948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2686214" y="-2578193"/>
            <a:ext cx="4292424" cy="3870986"/>
          </a:xfrm>
          <a:custGeom>
            <a:avLst/>
            <a:gdLst/>
            <a:ahLst/>
            <a:cxnLst/>
            <a:rect r="r" b="b" t="t" l="l"/>
            <a:pathLst>
              <a:path h="3870986" w="4292424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0138935" y="9258300"/>
            <a:ext cx="4076270" cy="2863579"/>
          </a:xfrm>
          <a:custGeom>
            <a:avLst/>
            <a:gdLst/>
            <a:ahLst/>
            <a:cxnLst/>
            <a:rect r="r" b="b" t="t" l="l"/>
            <a:pathLst>
              <a:path h="2863579" w="407627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7409323" y="-2700100"/>
            <a:ext cx="5493058" cy="4114800"/>
          </a:xfrm>
          <a:custGeom>
            <a:avLst/>
            <a:gdLst/>
            <a:ahLst/>
            <a:cxnLst/>
            <a:rect r="r" b="b" t="t" l="l"/>
            <a:pathLst>
              <a:path h="4114800" w="5493058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4747568">
            <a:off x="-2972342" y="3665317"/>
            <a:ext cx="4896097" cy="2735694"/>
          </a:xfrm>
          <a:custGeom>
            <a:avLst/>
            <a:gdLst/>
            <a:ahLst/>
            <a:cxnLst/>
            <a:rect r="r" b="b" t="t" l="l"/>
            <a:pathLst>
              <a:path h="2735694" w="4896097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4831481" y="-1626507"/>
            <a:ext cx="2892762" cy="2919301"/>
          </a:xfrm>
          <a:custGeom>
            <a:avLst/>
            <a:gdLst/>
            <a:ahLst/>
            <a:cxnLst/>
            <a:rect r="r" b="b" t="t" l="l"/>
            <a:pathLst>
              <a:path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7259300" y="2262342"/>
            <a:ext cx="3575541" cy="3575541"/>
          </a:xfrm>
          <a:custGeom>
            <a:avLst/>
            <a:gdLst/>
            <a:ahLst/>
            <a:cxnLst/>
            <a:rect r="r" b="b" t="t" l="l"/>
            <a:pathLst>
              <a:path h="3575541" w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2570549" y="9093737"/>
            <a:ext cx="2587020" cy="2386526"/>
          </a:xfrm>
          <a:custGeom>
            <a:avLst/>
            <a:gdLst/>
            <a:ahLst/>
            <a:cxnLst/>
            <a:rect r="r" b="b" t="t" l="l"/>
            <a:pathLst>
              <a:path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-5282649">
            <a:off x="16440369" y="6970869"/>
            <a:ext cx="3382987" cy="1154444"/>
          </a:xfrm>
          <a:custGeom>
            <a:avLst/>
            <a:gdLst/>
            <a:ahLst/>
            <a:cxnLst/>
            <a:rect r="r" b="b" t="t" l="l"/>
            <a:pathLst>
              <a:path h="1154444" w="3382987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6978638" y="-642644"/>
            <a:ext cx="3104522" cy="3342688"/>
          </a:xfrm>
          <a:custGeom>
            <a:avLst/>
            <a:gdLst/>
            <a:ahLst/>
            <a:cxnLst/>
            <a:rect r="r" b="b" t="t" l="l"/>
            <a:pathLst>
              <a:path h="3342688" w="3104522">
                <a:moveTo>
                  <a:pt x="0" y="0"/>
                </a:moveTo>
                <a:lnTo>
                  <a:pt x="3104522" y="0"/>
                </a:lnTo>
                <a:lnTo>
                  <a:pt x="3104522" y="3342688"/>
                </a:lnTo>
                <a:lnTo>
                  <a:pt x="0" y="3342688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6" id="16"/>
          <p:cNvSpPr txBox="true"/>
          <p:nvPr/>
        </p:nvSpPr>
        <p:spPr>
          <a:xfrm rot="0">
            <a:off x="3688802" y="3908068"/>
            <a:ext cx="10910396" cy="1657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18"/>
              </a:lnSpc>
            </a:pPr>
            <a:r>
              <a:rPr lang="en-US" b="true" sz="12998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TripFlow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914102" y="5795358"/>
            <a:ext cx="8459795" cy="2235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81"/>
              </a:lnSpc>
            </a:pPr>
            <a:r>
              <a:rPr lang="en-US" b="true" sz="4381" spc="-8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Програмна інженерія. Єфімова Ніка, Голдак Остап, Коханський Артем, Самарська Анастасія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4737926" y="2576219"/>
            <a:ext cx="724985" cy="920616"/>
          </a:xfrm>
          <a:custGeom>
            <a:avLst/>
            <a:gdLst/>
            <a:ahLst/>
            <a:cxnLst/>
            <a:rect r="r" b="b" t="t" l="l"/>
            <a:pathLst>
              <a:path h="920616" w="724985">
                <a:moveTo>
                  <a:pt x="0" y="0"/>
                </a:moveTo>
                <a:lnTo>
                  <a:pt x="724985" y="0"/>
                </a:lnTo>
                <a:lnTo>
                  <a:pt x="724985" y="920616"/>
                </a:lnTo>
                <a:lnTo>
                  <a:pt x="0" y="920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994934" y="2091045"/>
            <a:ext cx="6264366" cy="6104909"/>
          </a:xfrm>
          <a:custGeom>
            <a:avLst/>
            <a:gdLst/>
            <a:ahLst/>
            <a:cxnLst/>
            <a:rect r="r" b="b" t="t" l="l"/>
            <a:pathLst>
              <a:path h="6104909" w="6264366">
                <a:moveTo>
                  <a:pt x="0" y="0"/>
                </a:moveTo>
                <a:lnTo>
                  <a:pt x="6264366" y="0"/>
                </a:lnTo>
                <a:lnTo>
                  <a:pt x="6264366" y="6104910"/>
                </a:lnTo>
                <a:lnTo>
                  <a:pt x="0" y="6104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04950" y="2898168"/>
            <a:ext cx="10590241" cy="1177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30"/>
              </a:lnSpc>
            </a:pPr>
            <a:r>
              <a:rPr lang="en-US" sz="90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Тема застосунку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04950" y="4798032"/>
            <a:ext cx="7707571" cy="3318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99" spc="16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TripFlow - застосунок, призначений для зручного трекінгу подорожей у форматі “все в одному”: від початкового планування та бюджетування до збору речей під час поїздки</a:t>
            </a:r>
          </a:p>
          <a:p>
            <a:pPr algn="l" marL="0" indent="0" lvl="0">
              <a:lnSpc>
                <a:spcPts val="3779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353489" y="8540136"/>
            <a:ext cx="4602314" cy="3618569"/>
          </a:xfrm>
          <a:custGeom>
            <a:avLst/>
            <a:gdLst/>
            <a:ahLst/>
            <a:cxnLst/>
            <a:rect r="r" b="b" t="t" l="l"/>
            <a:pathLst>
              <a:path h="3618569" w="4602314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-674156" y="-1072630"/>
            <a:ext cx="4899948" cy="3068592"/>
          </a:xfrm>
          <a:custGeom>
            <a:avLst/>
            <a:gdLst/>
            <a:ahLst/>
            <a:cxnLst/>
            <a:rect r="r" b="b" t="t" l="l"/>
            <a:pathLst>
              <a:path h="3068592" w="4899948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9258300"/>
            <a:ext cx="4076270" cy="2863579"/>
          </a:xfrm>
          <a:custGeom>
            <a:avLst/>
            <a:gdLst/>
            <a:ahLst/>
            <a:cxnLst/>
            <a:rect r="r" b="b" t="t" l="l"/>
            <a:pathLst>
              <a:path h="2863579" w="407627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5003948" y="-1890601"/>
            <a:ext cx="2892762" cy="2919301"/>
          </a:xfrm>
          <a:custGeom>
            <a:avLst/>
            <a:gdLst/>
            <a:ahLst/>
            <a:cxnLst/>
            <a:rect r="r" b="b" t="t" l="l"/>
            <a:pathLst>
              <a:path h="2919301" w="2892762">
                <a:moveTo>
                  <a:pt x="0" y="0"/>
                </a:moveTo>
                <a:lnTo>
                  <a:pt x="2892762" y="0"/>
                </a:lnTo>
                <a:lnTo>
                  <a:pt x="2892762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-5282649">
            <a:off x="16004285" y="265374"/>
            <a:ext cx="4017207" cy="1370872"/>
          </a:xfrm>
          <a:custGeom>
            <a:avLst/>
            <a:gdLst/>
            <a:ahLst/>
            <a:cxnLst/>
            <a:rect r="r" b="b" t="t" l="l"/>
            <a:pathLst>
              <a:path h="1370872" w="4017207">
                <a:moveTo>
                  <a:pt x="0" y="0"/>
                </a:moveTo>
                <a:lnTo>
                  <a:pt x="4017207" y="0"/>
                </a:lnTo>
                <a:lnTo>
                  <a:pt x="4017207" y="1370872"/>
                </a:lnTo>
                <a:lnTo>
                  <a:pt x="0" y="13708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5796" y="4191372"/>
            <a:ext cx="9429693" cy="2024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60"/>
              </a:lnSpc>
            </a:pPr>
            <a:r>
              <a:rPr lang="en-US" sz="80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Технологічний стек проєкту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453857" y="1170261"/>
            <a:ext cx="8175457" cy="2561528"/>
            <a:chOff x="0" y="0"/>
            <a:chExt cx="2736802" cy="8574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36802" cy="857492"/>
            </a:xfrm>
            <a:custGeom>
              <a:avLst/>
              <a:gdLst/>
              <a:ahLst/>
              <a:cxnLst/>
              <a:rect r="r" b="b" t="t" l="l"/>
              <a:pathLst>
                <a:path h="857492" w="2736802">
                  <a:moveTo>
                    <a:pt x="14205" y="0"/>
                  </a:moveTo>
                  <a:lnTo>
                    <a:pt x="2722597" y="0"/>
                  </a:lnTo>
                  <a:cubicBezTo>
                    <a:pt x="2730442" y="0"/>
                    <a:pt x="2736802" y="6360"/>
                    <a:pt x="2736802" y="14205"/>
                  </a:cubicBezTo>
                  <a:lnTo>
                    <a:pt x="2736802" y="843288"/>
                  </a:lnTo>
                  <a:cubicBezTo>
                    <a:pt x="2736802" y="847055"/>
                    <a:pt x="2735305" y="850668"/>
                    <a:pt x="2732641" y="853332"/>
                  </a:cubicBezTo>
                  <a:cubicBezTo>
                    <a:pt x="2729977" y="855996"/>
                    <a:pt x="2726364" y="857492"/>
                    <a:pt x="2722597" y="857492"/>
                  </a:cubicBezTo>
                  <a:lnTo>
                    <a:pt x="14205" y="857492"/>
                  </a:lnTo>
                  <a:cubicBezTo>
                    <a:pt x="6360" y="857492"/>
                    <a:pt x="0" y="851133"/>
                    <a:pt x="0" y="843288"/>
                  </a:cubicBezTo>
                  <a:lnTo>
                    <a:pt x="0" y="14205"/>
                  </a:lnTo>
                  <a:cubicBezTo>
                    <a:pt x="0" y="6360"/>
                    <a:pt x="6360" y="0"/>
                    <a:pt x="14205" y="0"/>
                  </a:cubicBez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85725"/>
              <a:ext cx="2736802" cy="771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792877" y="2024301"/>
            <a:ext cx="1578952" cy="1034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8000" spc="-65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01.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453857" y="3862348"/>
            <a:ext cx="8175457" cy="2561528"/>
            <a:chOff x="0" y="0"/>
            <a:chExt cx="2736802" cy="8574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36802" cy="857492"/>
            </a:xfrm>
            <a:custGeom>
              <a:avLst/>
              <a:gdLst/>
              <a:ahLst/>
              <a:cxnLst/>
              <a:rect r="r" b="b" t="t" l="l"/>
              <a:pathLst>
                <a:path h="857492" w="2736802">
                  <a:moveTo>
                    <a:pt x="14205" y="0"/>
                  </a:moveTo>
                  <a:lnTo>
                    <a:pt x="2722597" y="0"/>
                  </a:lnTo>
                  <a:cubicBezTo>
                    <a:pt x="2730442" y="0"/>
                    <a:pt x="2736802" y="6360"/>
                    <a:pt x="2736802" y="14205"/>
                  </a:cubicBezTo>
                  <a:lnTo>
                    <a:pt x="2736802" y="843288"/>
                  </a:lnTo>
                  <a:cubicBezTo>
                    <a:pt x="2736802" y="847055"/>
                    <a:pt x="2735305" y="850668"/>
                    <a:pt x="2732641" y="853332"/>
                  </a:cubicBezTo>
                  <a:cubicBezTo>
                    <a:pt x="2729977" y="855996"/>
                    <a:pt x="2726364" y="857492"/>
                    <a:pt x="2722597" y="857492"/>
                  </a:cubicBezTo>
                  <a:lnTo>
                    <a:pt x="14205" y="857492"/>
                  </a:lnTo>
                  <a:cubicBezTo>
                    <a:pt x="6360" y="857492"/>
                    <a:pt x="0" y="851133"/>
                    <a:pt x="0" y="843288"/>
                  </a:cubicBezTo>
                  <a:lnTo>
                    <a:pt x="0" y="14205"/>
                  </a:lnTo>
                  <a:cubicBezTo>
                    <a:pt x="0" y="6360"/>
                    <a:pt x="6360" y="0"/>
                    <a:pt x="14205" y="0"/>
                  </a:cubicBez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85725"/>
              <a:ext cx="2736802" cy="771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453857" y="6557226"/>
            <a:ext cx="8175457" cy="2561528"/>
            <a:chOff x="0" y="0"/>
            <a:chExt cx="2736802" cy="85749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36802" cy="857492"/>
            </a:xfrm>
            <a:custGeom>
              <a:avLst/>
              <a:gdLst/>
              <a:ahLst/>
              <a:cxnLst/>
              <a:rect r="r" b="b" t="t" l="l"/>
              <a:pathLst>
                <a:path h="857492" w="2736802">
                  <a:moveTo>
                    <a:pt x="14205" y="0"/>
                  </a:moveTo>
                  <a:lnTo>
                    <a:pt x="2722597" y="0"/>
                  </a:lnTo>
                  <a:cubicBezTo>
                    <a:pt x="2730442" y="0"/>
                    <a:pt x="2736802" y="6360"/>
                    <a:pt x="2736802" y="14205"/>
                  </a:cubicBezTo>
                  <a:lnTo>
                    <a:pt x="2736802" y="843288"/>
                  </a:lnTo>
                  <a:cubicBezTo>
                    <a:pt x="2736802" y="847055"/>
                    <a:pt x="2735305" y="850668"/>
                    <a:pt x="2732641" y="853332"/>
                  </a:cubicBezTo>
                  <a:cubicBezTo>
                    <a:pt x="2729977" y="855996"/>
                    <a:pt x="2726364" y="857492"/>
                    <a:pt x="2722597" y="857492"/>
                  </a:cubicBezTo>
                  <a:lnTo>
                    <a:pt x="14205" y="857492"/>
                  </a:lnTo>
                  <a:cubicBezTo>
                    <a:pt x="6360" y="857492"/>
                    <a:pt x="0" y="851133"/>
                    <a:pt x="0" y="843288"/>
                  </a:cubicBezTo>
                  <a:lnTo>
                    <a:pt x="0" y="14205"/>
                  </a:lnTo>
                  <a:cubicBezTo>
                    <a:pt x="0" y="6360"/>
                    <a:pt x="6360" y="0"/>
                    <a:pt x="14205" y="0"/>
                  </a:cubicBez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85725"/>
              <a:ext cx="2736802" cy="771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792877" y="4717783"/>
            <a:ext cx="1578952" cy="1034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8000" spc="-65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02.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92877" y="7411266"/>
            <a:ext cx="1578952" cy="1034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8000" spc="-65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03.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914556" y="1786176"/>
            <a:ext cx="4497350" cy="1405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670"/>
              </a:lnSpc>
            </a:pPr>
            <a:r>
              <a:rPr lang="en-US" sz="4200" spc="6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C#</a:t>
            </a:r>
          </a:p>
          <a:p>
            <a:pPr algn="just" marL="0" indent="0" lvl="0">
              <a:lnSpc>
                <a:spcPts val="5670"/>
              </a:lnSpc>
              <a:spcBef>
                <a:spcPct val="0"/>
              </a:spcBef>
            </a:pPr>
            <a:r>
              <a:rPr lang="en-US" sz="4200" spc="6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.Net (ADO.NET)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914556" y="4386317"/>
            <a:ext cx="4132127" cy="1405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670"/>
              </a:lnSpc>
              <a:spcBef>
                <a:spcPct val="0"/>
              </a:spcBef>
            </a:pPr>
            <a:r>
              <a:rPr lang="en-US" sz="4200" spc="6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WPF, XAML для візуалу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848894" y="6749282"/>
            <a:ext cx="5410406" cy="2120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670"/>
              </a:lnSpc>
              <a:spcBef>
                <a:spcPct val="0"/>
              </a:spcBef>
            </a:pPr>
            <a:r>
              <a:rPr lang="en-US" sz="4200" spc="6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Git і GitHub для командної роботи і контролю версій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-848571" y="8919661"/>
            <a:ext cx="3870946" cy="950141"/>
          </a:xfrm>
          <a:custGeom>
            <a:avLst/>
            <a:gdLst/>
            <a:ahLst/>
            <a:cxnLst/>
            <a:rect r="r" b="b" t="t" l="l"/>
            <a:pathLst>
              <a:path h="950141" w="3870946">
                <a:moveTo>
                  <a:pt x="0" y="0"/>
                </a:moveTo>
                <a:lnTo>
                  <a:pt x="3870946" y="0"/>
                </a:lnTo>
                <a:lnTo>
                  <a:pt x="3870946" y="950141"/>
                </a:lnTo>
                <a:lnTo>
                  <a:pt x="0" y="9501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4472906" y="-2364815"/>
            <a:ext cx="4980952" cy="3731186"/>
          </a:xfrm>
          <a:custGeom>
            <a:avLst/>
            <a:gdLst/>
            <a:ahLst/>
            <a:cxnLst/>
            <a:rect r="r" b="b" t="t" l="l"/>
            <a:pathLst>
              <a:path h="3731186" w="4980952">
                <a:moveTo>
                  <a:pt x="0" y="0"/>
                </a:moveTo>
                <a:lnTo>
                  <a:pt x="4980951" y="0"/>
                </a:lnTo>
                <a:lnTo>
                  <a:pt x="4980951" y="3731186"/>
                </a:lnTo>
                <a:lnTo>
                  <a:pt x="0" y="37311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3431074" y="8919661"/>
            <a:ext cx="2587020" cy="2386526"/>
          </a:xfrm>
          <a:custGeom>
            <a:avLst/>
            <a:gdLst/>
            <a:ahLst/>
            <a:cxnLst/>
            <a:rect r="r" b="b" t="t" l="l"/>
            <a:pathLst>
              <a:path h="2386526" w="2587020">
                <a:moveTo>
                  <a:pt x="0" y="0"/>
                </a:moveTo>
                <a:lnTo>
                  <a:pt x="2587019" y="0"/>
                </a:lnTo>
                <a:lnTo>
                  <a:pt x="2587019" y="2386525"/>
                </a:lnTo>
                <a:lnTo>
                  <a:pt x="0" y="23865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1" id="21"/>
          <p:cNvSpPr/>
          <p:nvPr/>
        </p:nvSpPr>
        <p:spPr>
          <a:xfrm flipH="false" flipV="false" rot="0">
            <a:off x="-848571" y="-744412"/>
            <a:ext cx="2597326" cy="2796583"/>
          </a:xfrm>
          <a:custGeom>
            <a:avLst/>
            <a:gdLst/>
            <a:ahLst/>
            <a:cxnLst/>
            <a:rect r="r" b="b" t="t" l="l"/>
            <a:pathLst>
              <a:path h="2796583" w="2597326">
                <a:moveTo>
                  <a:pt x="0" y="0"/>
                </a:moveTo>
                <a:lnTo>
                  <a:pt x="2597327" y="0"/>
                </a:lnTo>
                <a:lnTo>
                  <a:pt x="2597327" y="2796583"/>
                </a:lnTo>
                <a:lnTo>
                  <a:pt x="0" y="27965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886757" y="5074942"/>
            <a:ext cx="20061513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5930165" y="4823914"/>
            <a:ext cx="502056" cy="502056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190500" y="219075"/>
              <a:ext cx="431800" cy="403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6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227066" y="4823914"/>
            <a:ext cx="502056" cy="50205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90500" y="219075"/>
              <a:ext cx="431800" cy="403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6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53627" y="4823914"/>
            <a:ext cx="502056" cy="50205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90500" y="219075"/>
              <a:ext cx="431800" cy="403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6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396139" y="4823914"/>
            <a:ext cx="502056" cy="502056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90500" y="219075"/>
              <a:ext cx="431800" cy="403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66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956403" y="2294074"/>
            <a:ext cx="10375193" cy="1177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730"/>
              </a:lnSpc>
              <a:spcBef>
                <a:spcPct val="0"/>
              </a:spcBef>
            </a:pPr>
            <a:r>
              <a:rPr lang="en-US" b="true" sz="9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Проблематика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227066" y="5616041"/>
            <a:ext cx="2197323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50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948468" y="5616041"/>
            <a:ext cx="2197323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50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38078" y="6419316"/>
            <a:ext cx="3461599" cy="2985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1"/>
              </a:lnSpc>
            </a:pPr>
            <a:r>
              <a:rPr lang="en-US" sz="21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Розкид</a:t>
            </a:r>
            <a:r>
              <a:rPr lang="en-US" sz="21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інформації: документи на пошті, квитки в галереї, розклад у месенджерах, а список речей у блокноті</a:t>
            </a:r>
          </a:p>
          <a:p>
            <a:pPr algn="l">
              <a:lnSpc>
                <a:spcPts val="3431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5350921" y="6419316"/>
            <a:ext cx="3609470" cy="2556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1"/>
              </a:lnSpc>
            </a:pPr>
            <a:r>
              <a:rPr lang="en-US" sz="21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Складнощі з бюджетом</a:t>
            </a:r>
            <a:r>
              <a:rPr lang="en-US" sz="21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 важко контроювати залишок коштів та не зрозуміло, скільки коштів ще можна витратити</a:t>
            </a:r>
          </a:p>
          <a:p>
            <a:pPr algn="l">
              <a:lnSpc>
                <a:spcPts val="3431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9671930" y="5616041"/>
            <a:ext cx="2197323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50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265930" y="6419316"/>
            <a:ext cx="3593377" cy="2985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1"/>
              </a:lnSpc>
            </a:pPr>
            <a:r>
              <a:rPr lang="en-US" sz="21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Залежність</a:t>
            </a:r>
            <a:r>
              <a:rPr lang="en-US" sz="21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від інтернету: на відміну від веб-сервісів у роумінгу, десктопний застосунок зберігає все планування офлайн перед виїздом</a:t>
            </a:r>
          </a:p>
          <a:p>
            <a:pPr algn="l">
              <a:lnSpc>
                <a:spcPts val="3431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3414442" y="5616041"/>
            <a:ext cx="2197323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50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04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200969" y="6419316"/>
            <a:ext cx="4363143" cy="2556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1"/>
              </a:lnSpc>
            </a:pPr>
            <a:r>
              <a:rPr lang="en-US" sz="21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Рутинне пакування: щоразу доводиться створювати списки речей з нуля, через що часто забуваються базові речі (зарядки, аптечка, документи)</a:t>
            </a:r>
          </a:p>
          <a:p>
            <a:pPr algn="l">
              <a:lnSpc>
                <a:spcPts val="3431"/>
              </a:lnSpc>
            </a:pP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-1573240" y="8893298"/>
            <a:ext cx="4051334" cy="2765036"/>
          </a:xfrm>
          <a:custGeom>
            <a:avLst/>
            <a:gdLst/>
            <a:ahLst/>
            <a:cxnLst/>
            <a:rect r="r" b="b" t="t" l="l"/>
            <a:pathLst>
              <a:path h="2765036" w="4051334">
                <a:moveTo>
                  <a:pt x="0" y="0"/>
                </a:moveTo>
                <a:lnTo>
                  <a:pt x="4051334" y="0"/>
                </a:lnTo>
                <a:lnTo>
                  <a:pt x="4051334" y="2765036"/>
                </a:lnTo>
                <a:lnTo>
                  <a:pt x="0" y="27650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5262955" y="8864586"/>
            <a:ext cx="4602314" cy="3618569"/>
          </a:xfrm>
          <a:custGeom>
            <a:avLst/>
            <a:gdLst/>
            <a:ahLst/>
            <a:cxnLst/>
            <a:rect r="r" b="b" t="t" l="l"/>
            <a:pathLst>
              <a:path h="3618569" w="4602314">
                <a:moveTo>
                  <a:pt x="0" y="0"/>
                </a:moveTo>
                <a:lnTo>
                  <a:pt x="4602314" y="0"/>
                </a:lnTo>
                <a:lnTo>
                  <a:pt x="4602314" y="3618569"/>
                </a:lnTo>
                <a:lnTo>
                  <a:pt x="0" y="36185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6" id="26"/>
          <p:cNvSpPr/>
          <p:nvPr/>
        </p:nvSpPr>
        <p:spPr>
          <a:xfrm flipH="false" flipV="false" rot="0">
            <a:off x="-674156" y="-1322787"/>
            <a:ext cx="4224468" cy="2645573"/>
          </a:xfrm>
          <a:custGeom>
            <a:avLst/>
            <a:gdLst/>
            <a:ahLst/>
            <a:cxnLst/>
            <a:rect r="r" b="b" t="t" l="l"/>
            <a:pathLst>
              <a:path h="2645573" w="4224468">
                <a:moveTo>
                  <a:pt x="0" y="0"/>
                </a:moveTo>
                <a:lnTo>
                  <a:pt x="4224468" y="0"/>
                </a:lnTo>
                <a:lnTo>
                  <a:pt x="4224468" y="2645574"/>
                </a:lnTo>
                <a:lnTo>
                  <a:pt x="0" y="26455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7" id="27"/>
          <p:cNvSpPr/>
          <p:nvPr/>
        </p:nvSpPr>
        <p:spPr>
          <a:xfrm flipH="false" flipV="false" rot="0">
            <a:off x="11101574" y="9560661"/>
            <a:ext cx="3169280" cy="2226419"/>
          </a:xfrm>
          <a:custGeom>
            <a:avLst/>
            <a:gdLst/>
            <a:ahLst/>
            <a:cxnLst/>
            <a:rect r="r" b="b" t="t" l="l"/>
            <a:pathLst>
              <a:path h="2226419" w="3169280">
                <a:moveTo>
                  <a:pt x="0" y="0"/>
                </a:moveTo>
                <a:lnTo>
                  <a:pt x="3169280" y="0"/>
                </a:lnTo>
                <a:lnTo>
                  <a:pt x="3169280" y="2226419"/>
                </a:lnTo>
                <a:lnTo>
                  <a:pt x="0" y="22264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8" id="28"/>
          <p:cNvSpPr/>
          <p:nvPr/>
        </p:nvSpPr>
        <p:spPr>
          <a:xfrm flipH="false" flipV="false" rot="0">
            <a:off x="9653627" y="-3037933"/>
            <a:ext cx="5493058" cy="4114800"/>
          </a:xfrm>
          <a:custGeom>
            <a:avLst/>
            <a:gdLst/>
            <a:ahLst/>
            <a:cxnLst/>
            <a:rect r="r" b="b" t="t" l="l"/>
            <a:pathLst>
              <a:path h="4114800" w="5493058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9" id="29"/>
          <p:cNvSpPr/>
          <p:nvPr/>
        </p:nvSpPr>
        <p:spPr>
          <a:xfrm flipH="false" flipV="false" rot="-5400000">
            <a:off x="4745771" y="-1877331"/>
            <a:ext cx="2892762" cy="2919301"/>
          </a:xfrm>
          <a:custGeom>
            <a:avLst/>
            <a:gdLst/>
            <a:ahLst/>
            <a:cxnLst/>
            <a:rect r="r" b="b" t="t" l="l"/>
            <a:pathLst>
              <a:path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0" id="30"/>
          <p:cNvSpPr/>
          <p:nvPr/>
        </p:nvSpPr>
        <p:spPr>
          <a:xfrm flipH="false" flipV="false" rot="0">
            <a:off x="2932282" y="9271808"/>
            <a:ext cx="2587020" cy="2386526"/>
          </a:xfrm>
          <a:custGeom>
            <a:avLst/>
            <a:gdLst/>
            <a:ahLst/>
            <a:cxnLst/>
            <a:rect r="r" b="b" t="t" l="l"/>
            <a:pathLst>
              <a:path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1" id="31"/>
          <p:cNvSpPr/>
          <p:nvPr/>
        </p:nvSpPr>
        <p:spPr>
          <a:xfrm flipH="false" flipV="false" rot="0">
            <a:off x="15262955" y="-1072630"/>
            <a:ext cx="1996345" cy="2149497"/>
          </a:xfrm>
          <a:custGeom>
            <a:avLst/>
            <a:gdLst/>
            <a:ahLst/>
            <a:cxnLst/>
            <a:rect r="r" b="b" t="t" l="l"/>
            <a:pathLst>
              <a:path h="2149497" w="1996345">
                <a:moveTo>
                  <a:pt x="0" y="0"/>
                </a:moveTo>
                <a:lnTo>
                  <a:pt x="1996345" y="0"/>
                </a:lnTo>
                <a:lnTo>
                  <a:pt x="1996345" y="2149497"/>
                </a:lnTo>
                <a:lnTo>
                  <a:pt x="0" y="214949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672061" y="1025292"/>
            <a:ext cx="5587239" cy="2662922"/>
            <a:chOff x="0" y="0"/>
            <a:chExt cx="2065940" cy="9846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65940" cy="984643"/>
            </a:xfrm>
            <a:custGeom>
              <a:avLst/>
              <a:gdLst/>
              <a:ahLst/>
              <a:cxnLst/>
              <a:rect r="r" b="b" t="t" l="l"/>
              <a:pathLst>
                <a:path h="984643" w="2065940">
                  <a:moveTo>
                    <a:pt x="20785" y="0"/>
                  </a:moveTo>
                  <a:lnTo>
                    <a:pt x="2045156" y="0"/>
                  </a:lnTo>
                  <a:cubicBezTo>
                    <a:pt x="2056635" y="0"/>
                    <a:pt x="2065940" y="9306"/>
                    <a:pt x="2065940" y="20785"/>
                  </a:cubicBezTo>
                  <a:lnTo>
                    <a:pt x="2065940" y="963859"/>
                  </a:lnTo>
                  <a:cubicBezTo>
                    <a:pt x="2065940" y="975338"/>
                    <a:pt x="2056635" y="984643"/>
                    <a:pt x="2045156" y="984643"/>
                  </a:cubicBezTo>
                  <a:lnTo>
                    <a:pt x="20785" y="984643"/>
                  </a:lnTo>
                  <a:cubicBezTo>
                    <a:pt x="9306" y="984643"/>
                    <a:pt x="0" y="975338"/>
                    <a:pt x="0" y="963859"/>
                  </a:cubicBezTo>
                  <a:lnTo>
                    <a:pt x="0" y="20785"/>
                  </a:lnTo>
                  <a:cubicBezTo>
                    <a:pt x="0" y="9306"/>
                    <a:pt x="9306" y="0"/>
                    <a:pt x="20785" y="0"/>
                  </a:cubicBezTo>
                  <a:close/>
                </a:path>
              </a:pathLst>
            </a:custGeom>
            <a:solidFill>
              <a:srgbClr val="8AB7E2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65940" cy="1022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672061" y="3808631"/>
            <a:ext cx="5587239" cy="2662922"/>
            <a:chOff x="0" y="0"/>
            <a:chExt cx="2065940" cy="98464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65940" cy="984643"/>
            </a:xfrm>
            <a:custGeom>
              <a:avLst/>
              <a:gdLst/>
              <a:ahLst/>
              <a:cxnLst/>
              <a:rect r="r" b="b" t="t" l="l"/>
              <a:pathLst>
                <a:path h="984643" w="2065940">
                  <a:moveTo>
                    <a:pt x="20785" y="0"/>
                  </a:moveTo>
                  <a:lnTo>
                    <a:pt x="2045156" y="0"/>
                  </a:lnTo>
                  <a:cubicBezTo>
                    <a:pt x="2056635" y="0"/>
                    <a:pt x="2065940" y="9306"/>
                    <a:pt x="2065940" y="20785"/>
                  </a:cubicBezTo>
                  <a:lnTo>
                    <a:pt x="2065940" y="963859"/>
                  </a:lnTo>
                  <a:cubicBezTo>
                    <a:pt x="2065940" y="975338"/>
                    <a:pt x="2056635" y="984643"/>
                    <a:pt x="2045156" y="984643"/>
                  </a:cubicBezTo>
                  <a:lnTo>
                    <a:pt x="20785" y="984643"/>
                  </a:lnTo>
                  <a:cubicBezTo>
                    <a:pt x="9306" y="984643"/>
                    <a:pt x="0" y="975338"/>
                    <a:pt x="0" y="963859"/>
                  </a:cubicBezTo>
                  <a:lnTo>
                    <a:pt x="0" y="20785"/>
                  </a:lnTo>
                  <a:cubicBezTo>
                    <a:pt x="0" y="9306"/>
                    <a:pt x="9306" y="0"/>
                    <a:pt x="20785" y="0"/>
                  </a:cubicBezTo>
                  <a:close/>
                </a:path>
              </a:pathLst>
            </a:custGeom>
            <a:solidFill>
              <a:srgbClr val="8AB7E2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065940" cy="1022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672061" y="6595378"/>
            <a:ext cx="5587239" cy="2662922"/>
            <a:chOff x="0" y="0"/>
            <a:chExt cx="2065940" cy="98464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65940" cy="984643"/>
            </a:xfrm>
            <a:custGeom>
              <a:avLst/>
              <a:gdLst/>
              <a:ahLst/>
              <a:cxnLst/>
              <a:rect r="r" b="b" t="t" l="l"/>
              <a:pathLst>
                <a:path h="984643" w="2065940">
                  <a:moveTo>
                    <a:pt x="20785" y="0"/>
                  </a:moveTo>
                  <a:lnTo>
                    <a:pt x="2045156" y="0"/>
                  </a:lnTo>
                  <a:cubicBezTo>
                    <a:pt x="2056635" y="0"/>
                    <a:pt x="2065940" y="9306"/>
                    <a:pt x="2065940" y="20785"/>
                  </a:cubicBezTo>
                  <a:lnTo>
                    <a:pt x="2065940" y="963859"/>
                  </a:lnTo>
                  <a:cubicBezTo>
                    <a:pt x="2065940" y="975338"/>
                    <a:pt x="2056635" y="984643"/>
                    <a:pt x="2045156" y="984643"/>
                  </a:cubicBezTo>
                  <a:lnTo>
                    <a:pt x="20785" y="984643"/>
                  </a:lnTo>
                  <a:cubicBezTo>
                    <a:pt x="9306" y="984643"/>
                    <a:pt x="0" y="975338"/>
                    <a:pt x="0" y="963859"/>
                  </a:cubicBezTo>
                  <a:lnTo>
                    <a:pt x="0" y="20785"/>
                  </a:lnTo>
                  <a:cubicBezTo>
                    <a:pt x="0" y="9306"/>
                    <a:pt x="9306" y="0"/>
                    <a:pt x="20785" y="0"/>
                  </a:cubicBezTo>
                  <a:close/>
                </a:path>
              </a:pathLst>
            </a:custGeom>
            <a:solidFill>
              <a:srgbClr val="8AB7E2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065940" cy="1022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1028700"/>
            <a:ext cx="5587239" cy="2662922"/>
            <a:chOff x="0" y="0"/>
            <a:chExt cx="2065940" cy="98464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65940" cy="984643"/>
            </a:xfrm>
            <a:custGeom>
              <a:avLst/>
              <a:gdLst/>
              <a:ahLst/>
              <a:cxnLst/>
              <a:rect r="r" b="b" t="t" l="l"/>
              <a:pathLst>
                <a:path h="984643" w="2065940">
                  <a:moveTo>
                    <a:pt x="20785" y="0"/>
                  </a:moveTo>
                  <a:lnTo>
                    <a:pt x="2045156" y="0"/>
                  </a:lnTo>
                  <a:cubicBezTo>
                    <a:pt x="2056635" y="0"/>
                    <a:pt x="2065940" y="9306"/>
                    <a:pt x="2065940" y="20785"/>
                  </a:cubicBezTo>
                  <a:lnTo>
                    <a:pt x="2065940" y="963859"/>
                  </a:lnTo>
                  <a:cubicBezTo>
                    <a:pt x="2065940" y="975338"/>
                    <a:pt x="2056635" y="984643"/>
                    <a:pt x="2045156" y="984643"/>
                  </a:cubicBezTo>
                  <a:lnTo>
                    <a:pt x="20785" y="984643"/>
                  </a:lnTo>
                  <a:cubicBezTo>
                    <a:pt x="9306" y="984643"/>
                    <a:pt x="0" y="975338"/>
                    <a:pt x="0" y="963859"/>
                  </a:cubicBezTo>
                  <a:lnTo>
                    <a:pt x="0" y="20785"/>
                  </a:lnTo>
                  <a:cubicBezTo>
                    <a:pt x="0" y="9306"/>
                    <a:pt x="9306" y="0"/>
                    <a:pt x="20785" y="0"/>
                  </a:cubicBezTo>
                  <a:close/>
                </a:path>
              </a:pathLst>
            </a:custGeom>
            <a:solidFill>
              <a:srgbClr val="8AB7E2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065940" cy="1022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3812039"/>
            <a:ext cx="5587239" cy="2662922"/>
            <a:chOff x="0" y="0"/>
            <a:chExt cx="2065940" cy="98464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65940" cy="984643"/>
            </a:xfrm>
            <a:custGeom>
              <a:avLst/>
              <a:gdLst/>
              <a:ahLst/>
              <a:cxnLst/>
              <a:rect r="r" b="b" t="t" l="l"/>
              <a:pathLst>
                <a:path h="984643" w="2065940">
                  <a:moveTo>
                    <a:pt x="20785" y="0"/>
                  </a:moveTo>
                  <a:lnTo>
                    <a:pt x="2045156" y="0"/>
                  </a:lnTo>
                  <a:cubicBezTo>
                    <a:pt x="2056635" y="0"/>
                    <a:pt x="2065940" y="9306"/>
                    <a:pt x="2065940" y="20785"/>
                  </a:cubicBezTo>
                  <a:lnTo>
                    <a:pt x="2065940" y="963859"/>
                  </a:lnTo>
                  <a:cubicBezTo>
                    <a:pt x="2065940" y="975338"/>
                    <a:pt x="2056635" y="984643"/>
                    <a:pt x="2045156" y="984643"/>
                  </a:cubicBezTo>
                  <a:lnTo>
                    <a:pt x="20785" y="984643"/>
                  </a:lnTo>
                  <a:cubicBezTo>
                    <a:pt x="9306" y="984643"/>
                    <a:pt x="0" y="975338"/>
                    <a:pt x="0" y="963859"/>
                  </a:cubicBezTo>
                  <a:lnTo>
                    <a:pt x="0" y="20785"/>
                  </a:lnTo>
                  <a:cubicBezTo>
                    <a:pt x="0" y="9306"/>
                    <a:pt x="9306" y="0"/>
                    <a:pt x="20785" y="0"/>
                  </a:cubicBezTo>
                  <a:close/>
                </a:path>
              </a:pathLst>
            </a:custGeom>
            <a:solidFill>
              <a:srgbClr val="8AB7E2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065940" cy="1022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28700" y="6598786"/>
            <a:ext cx="5587239" cy="2662922"/>
            <a:chOff x="0" y="0"/>
            <a:chExt cx="2065940" cy="98464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65940" cy="984643"/>
            </a:xfrm>
            <a:custGeom>
              <a:avLst/>
              <a:gdLst/>
              <a:ahLst/>
              <a:cxnLst/>
              <a:rect r="r" b="b" t="t" l="l"/>
              <a:pathLst>
                <a:path h="984643" w="2065940">
                  <a:moveTo>
                    <a:pt x="20785" y="0"/>
                  </a:moveTo>
                  <a:lnTo>
                    <a:pt x="2045156" y="0"/>
                  </a:lnTo>
                  <a:cubicBezTo>
                    <a:pt x="2056635" y="0"/>
                    <a:pt x="2065940" y="9306"/>
                    <a:pt x="2065940" y="20785"/>
                  </a:cubicBezTo>
                  <a:lnTo>
                    <a:pt x="2065940" y="963859"/>
                  </a:lnTo>
                  <a:cubicBezTo>
                    <a:pt x="2065940" y="975338"/>
                    <a:pt x="2056635" y="984643"/>
                    <a:pt x="2045156" y="984643"/>
                  </a:cubicBezTo>
                  <a:lnTo>
                    <a:pt x="20785" y="984643"/>
                  </a:lnTo>
                  <a:cubicBezTo>
                    <a:pt x="9306" y="984643"/>
                    <a:pt x="0" y="975338"/>
                    <a:pt x="0" y="963859"/>
                  </a:cubicBezTo>
                  <a:lnTo>
                    <a:pt x="0" y="20785"/>
                  </a:lnTo>
                  <a:cubicBezTo>
                    <a:pt x="0" y="9306"/>
                    <a:pt x="9306" y="0"/>
                    <a:pt x="20785" y="0"/>
                  </a:cubicBezTo>
                  <a:close/>
                </a:path>
              </a:pathLst>
            </a:custGeom>
            <a:solidFill>
              <a:srgbClr val="8AB7E2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065940" cy="1022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-7900054">
            <a:off x="7348622" y="2133028"/>
            <a:ext cx="1012981" cy="454921"/>
          </a:xfrm>
          <a:custGeom>
            <a:avLst/>
            <a:gdLst/>
            <a:ahLst/>
            <a:cxnLst/>
            <a:rect r="r" b="b" t="t" l="l"/>
            <a:pathLst>
              <a:path h="454921" w="1012981">
                <a:moveTo>
                  <a:pt x="0" y="0"/>
                </a:moveTo>
                <a:lnTo>
                  <a:pt x="1012982" y="0"/>
                </a:lnTo>
                <a:lnTo>
                  <a:pt x="1012982" y="454921"/>
                </a:lnTo>
                <a:lnTo>
                  <a:pt x="0" y="4549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-2700000">
            <a:off x="10017119" y="2144497"/>
            <a:ext cx="1012981" cy="454921"/>
          </a:xfrm>
          <a:custGeom>
            <a:avLst/>
            <a:gdLst/>
            <a:ahLst/>
            <a:cxnLst/>
            <a:rect r="r" b="b" t="t" l="l"/>
            <a:pathLst>
              <a:path h="454921" w="1012981">
                <a:moveTo>
                  <a:pt x="0" y="0"/>
                </a:moveTo>
                <a:lnTo>
                  <a:pt x="1012982" y="0"/>
                </a:lnTo>
                <a:lnTo>
                  <a:pt x="1012982" y="454921"/>
                </a:lnTo>
                <a:lnTo>
                  <a:pt x="0" y="4549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3209977">
            <a:off x="9982257" y="7689589"/>
            <a:ext cx="1012981" cy="454921"/>
          </a:xfrm>
          <a:custGeom>
            <a:avLst/>
            <a:gdLst/>
            <a:ahLst/>
            <a:cxnLst/>
            <a:rect r="r" b="b" t="t" l="l"/>
            <a:pathLst>
              <a:path h="454921" w="1012981">
                <a:moveTo>
                  <a:pt x="0" y="0"/>
                </a:moveTo>
                <a:lnTo>
                  <a:pt x="1012981" y="0"/>
                </a:lnTo>
                <a:lnTo>
                  <a:pt x="1012981" y="454921"/>
                </a:lnTo>
                <a:lnTo>
                  <a:pt x="0" y="4549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7866361">
            <a:off x="7243302" y="7665457"/>
            <a:ext cx="1012981" cy="454921"/>
          </a:xfrm>
          <a:custGeom>
            <a:avLst/>
            <a:gdLst/>
            <a:ahLst/>
            <a:cxnLst/>
            <a:rect r="r" b="b" t="t" l="l"/>
            <a:pathLst>
              <a:path h="454921" w="1012981">
                <a:moveTo>
                  <a:pt x="0" y="0"/>
                </a:moveTo>
                <a:lnTo>
                  <a:pt x="1012982" y="0"/>
                </a:lnTo>
                <a:lnTo>
                  <a:pt x="1012982" y="454921"/>
                </a:lnTo>
                <a:lnTo>
                  <a:pt x="0" y="4549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2118917" y="1475183"/>
            <a:ext cx="4618366" cy="1696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27"/>
              </a:lnSpc>
              <a:spcBef>
                <a:spcPct val="0"/>
              </a:spcBef>
            </a:pPr>
            <a:r>
              <a:rPr lang="en-US" b="true" sz="23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Списки спорядження </a:t>
            </a:r>
            <a:r>
              <a:rPr lang="en-US" sz="23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з категоризацією речей, можливістю ставити “галочки” на спакованих речах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026181" y="4206445"/>
            <a:ext cx="4892283" cy="1696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27"/>
              </a:lnSpc>
              <a:spcBef>
                <a:spcPct val="0"/>
              </a:spcBef>
            </a:pPr>
            <a:r>
              <a:rPr lang="en-US" b="true" sz="23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Експорт у текстовий файл</a:t>
            </a:r>
            <a:r>
              <a:rPr lang="en-US" sz="23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повного плану поїздки та таблиці витрат для друку чи перегляду на телефоні (формат .txt або .csv)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49751" y="1480580"/>
            <a:ext cx="4825352" cy="1696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7"/>
              </a:lnSpc>
            </a:pPr>
            <a:r>
              <a:rPr lang="en-US" sz="23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Створення поїздки</a:t>
            </a:r>
            <a:r>
              <a:rPr lang="en-US" sz="23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 внесення назви, вибір країни, дат, планового бюджету;</a:t>
            </a:r>
          </a:p>
          <a:p>
            <a:pPr algn="l" marL="0" indent="0" lvl="0">
              <a:lnSpc>
                <a:spcPts val="3427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1449751" y="4049321"/>
            <a:ext cx="4825352" cy="2125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27"/>
              </a:lnSpc>
            </a:pPr>
            <a:r>
              <a:rPr lang="en-US" b="true" sz="23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Контроль маршруту та активностей</a:t>
            </a:r>
            <a:r>
              <a:rPr lang="en-US" sz="23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 генерація списку днів за датами, додавання активностей до дня(час, локація, вартість, тощо)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62781" y="7045269"/>
            <a:ext cx="4825352" cy="1696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27"/>
              </a:lnSpc>
            </a:pPr>
            <a:r>
              <a:rPr lang="en-US" b="true" sz="23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Фінансовий контроль </a:t>
            </a:r>
            <a:r>
              <a:rPr lang="en-US" sz="23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у формі внесення витрат, динамічний обрахунок витраченої суми/залишку, встановлення лімітів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995244" y="4396945"/>
            <a:ext cx="4297511" cy="1411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2"/>
              </a:lnSpc>
            </a:pPr>
            <a:r>
              <a:rPr lang="en-US" sz="56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Вимоги</a:t>
            </a:r>
          </a:p>
          <a:p>
            <a:pPr algn="ctr" marL="0" indent="0" lvl="1">
              <a:lnSpc>
                <a:spcPts val="5432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застосунку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026181" y="6985903"/>
            <a:ext cx="4892283" cy="1267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27"/>
              </a:lnSpc>
              <a:spcBef>
                <a:spcPct val="0"/>
              </a:spcBef>
            </a:pPr>
            <a:r>
              <a:rPr lang="en-US" b="true" sz="23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Зручний та інтуїтивний інтерфей</a:t>
            </a:r>
            <a:r>
              <a:rPr lang="en-US" sz="23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с із фільтрацією даних для простоти використання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353489" y="8540136"/>
            <a:ext cx="4602314" cy="3618569"/>
          </a:xfrm>
          <a:custGeom>
            <a:avLst/>
            <a:gdLst/>
            <a:ahLst/>
            <a:cxnLst/>
            <a:rect r="r" b="b" t="t" l="l"/>
            <a:pathLst>
              <a:path h="3618569" w="4602314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674156" y="-1072630"/>
            <a:ext cx="4899948" cy="3068592"/>
          </a:xfrm>
          <a:custGeom>
            <a:avLst/>
            <a:gdLst/>
            <a:ahLst/>
            <a:cxnLst/>
            <a:rect r="r" b="b" t="t" l="l"/>
            <a:pathLst>
              <a:path h="3068592" w="4899948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9258300"/>
            <a:ext cx="4076270" cy="2863579"/>
          </a:xfrm>
          <a:custGeom>
            <a:avLst/>
            <a:gdLst/>
            <a:ahLst/>
            <a:cxnLst/>
            <a:rect r="r" b="b" t="t" l="l"/>
            <a:pathLst>
              <a:path h="2863579" w="407627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5003948" y="-1890601"/>
            <a:ext cx="2892762" cy="2919301"/>
          </a:xfrm>
          <a:custGeom>
            <a:avLst/>
            <a:gdLst/>
            <a:ahLst/>
            <a:cxnLst/>
            <a:rect r="r" b="b" t="t" l="l"/>
            <a:pathLst>
              <a:path h="2919301" w="2892762">
                <a:moveTo>
                  <a:pt x="0" y="0"/>
                </a:moveTo>
                <a:lnTo>
                  <a:pt x="2892762" y="0"/>
                </a:lnTo>
                <a:lnTo>
                  <a:pt x="2892762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-5282649">
            <a:off x="16004285" y="265374"/>
            <a:ext cx="4017207" cy="1370872"/>
          </a:xfrm>
          <a:custGeom>
            <a:avLst/>
            <a:gdLst/>
            <a:ahLst/>
            <a:cxnLst/>
            <a:rect r="r" b="b" t="t" l="l"/>
            <a:pathLst>
              <a:path h="1370872" w="4017207">
                <a:moveTo>
                  <a:pt x="0" y="0"/>
                </a:moveTo>
                <a:lnTo>
                  <a:pt x="4017207" y="0"/>
                </a:lnTo>
                <a:lnTo>
                  <a:pt x="4017207" y="1370872"/>
                </a:lnTo>
                <a:lnTo>
                  <a:pt x="0" y="13708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2948160" y="3405883"/>
            <a:ext cx="4706486" cy="4006123"/>
          </a:xfrm>
          <a:custGeom>
            <a:avLst/>
            <a:gdLst/>
            <a:ahLst/>
            <a:cxnLst/>
            <a:rect r="r" b="b" t="t" l="l"/>
            <a:pathLst>
              <a:path h="4006123" w="4706486">
                <a:moveTo>
                  <a:pt x="0" y="0"/>
                </a:moveTo>
                <a:lnTo>
                  <a:pt x="4706486" y="0"/>
                </a:lnTo>
                <a:lnTo>
                  <a:pt x="4706486" y="4006123"/>
                </a:lnTo>
                <a:lnTo>
                  <a:pt x="0" y="400612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27806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2488242"/>
            <a:ext cx="12911994" cy="1177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30"/>
              </a:lnSpc>
            </a:pPr>
            <a:r>
              <a:rPr lang="en-US" sz="90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Типи користувачів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28724" y="3932232"/>
            <a:ext cx="11443210" cy="4271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</a:p>
          <a:p>
            <a:pPr algn="l" marL="604519" indent="-302260" lvl="1">
              <a:lnSpc>
                <a:spcPts val="3779"/>
              </a:lnSpc>
              <a:buFont typeface="Arial"/>
              <a:buChar char="•"/>
            </a:pPr>
            <a:r>
              <a:rPr lang="en-US" b="true" sz="2799" spc="16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Мандрівник (User)</a:t>
            </a:r>
            <a:r>
              <a:rPr lang="en-US" sz="2799" spc="16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 створює та редагує поїздки, формує розклад по днях, веде журнал витрат, керує чек-листами спорядження.</a:t>
            </a:r>
          </a:p>
          <a:p>
            <a:pPr algn="l">
              <a:lnSpc>
                <a:spcPts val="3779"/>
              </a:lnSpc>
            </a:pPr>
          </a:p>
          <a:p>
            <a:pPr algn="l" marL="604519" indent="-302260" lvl="1">
              <a:lnSpc>
                <a:spcPts val="3779"/>
              </a:lnSpc>
              <a:buFont typeface="Arial"/>
              <a:buChar char="•"/>
            </a:pPr>
            <a:r>
              <a:rPr lang="en-US" b="true" sz="2799" spc="16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Адміністратор (Admin):</a:t>
            </a:r>
            <a:r>
              <a:rPr lang="en-US" sz="2799" spc="16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керує глобальними довідниками (країни, міста, базові категорії витрат, системні шаблони чек-листів).</a:t>
            </a:r>
          </a:p>
          <a:p>
            <a:pPr algn="l">
              <a:lnSpc>
                <a:spcPts val="377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29398" y="9017983"/>
            <a:ext cx="4899948" cy="3344214"/>
          </a:xfrm>
          <a:custGeom>
            <a:avLst/>
            <a:gdLst/>
            <a:ahLst/>
            <a:cxnLst/>
            <a:rect r="r" b="b" t="t" l="l"/>
            <a:pathLst>
              <a:path h="3344214" w="4899948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47044" y="9882374"/>
            <a:ext cx="3296956" cy="809253"/>
          </a:xfrm>
          <a:custGeom>
            <a:avLst/>
            <a:gdLst/>
            <a:ahLst/>
            <a:cxnLst/>
            <a:rect r="r" b="b" t="t" l="l"/>
            <a:pathLst>
              <a:path h="809253" w="3296956">
                <a:moveTo>
                  <a:pt x="0" y="0"/>
                </a:moveTo>
                <a:lnTo>
                  <a:pt x="3296956" y="0"/>
                </a:lnTo>
                <a:lnTo>
                  <a:pt x="3296956" y="809252"/>
                </a:lnTo>
                <a:lnTo>
                  <a:pt x="0" y="8092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494772" y="9017983"/>
            <a:ext cx="4427843" cy="3481392"/>
          </a:xfrm>
          <a:custGeom>
            <a:avLst/>
            <a:gdLst/>
            <a:ahLst/>
            <a:cxnLst/>
            <a:rect r="r" b="b" t="t" l="l"/>
            <a:pathLst>
              <a:path h="3481392" w="4427843">
                <a:moveTo>
                  <a:pt x="0" y="0"/>
                </a:moveTo>
                <a:lnTo>
                  <a:pt x="4427843" y="0"/>
                </a:lnTo>
                <a:lnTo>
                  <a:pt x="4427843" y="3481391"/>
                </a:lnTo>
                <a:lnTo>
                  <a:pt x="0" y="34813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-763398" y="-1534296"/>
            <a:ext cx="4899948" cy="3068592"/>
          </a:xfrm>
          <a:custGeom>
            <a:avLst/>
            <a:gdLst/>
            <a:ahLst/>
            <a:cxnLst/>
            <a:rect r="r" b="b" t="t" l="l"/>
            <a:pathLst>
              <a:path h="3068592" w="4899948">
                <a:moveTo>
                  <a:pt x="0" y="0"/>
                </a:moveTo>
                <a:lnTo>
                  <a:pt x="4899947" y="0"/>
                </a:lnTo>
                <a:lnTo>
                  <a:pt x="4899947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2801533" y="-3053980"/>
            <a:ext cx="4292424" cy="3870986"/>
          </a:xfrm>
          <a:custGeom>
            <a:avLst/>
            <a:gdLst/>
            <a:ahLst/>
            <a:cxnLst/>
            <a:rect r="r" b="b" t="t" l="l"/>
            <a:pathLst>
              <a:path h="3870986" w="4292424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0138935" y="9258300"/>
            <a:ext cx="4076270" cy="2863579"/>
          </a:xfrm>
          <a:custGeom>
            <a:avLst/>
            <a:gdLst/>
            <a:ahLst/>
            <a:cxnLst/>
            <a:rect r="r" b="b" t="t" l="l"/>
            <a:pathLst>
              <a:path h="2863579" w="407627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7495522" y="-3297794"/>
            <a:ext cx="5493058" cy="4114800"/>
          </a:xfrm>
          <a:custGeom>
            <a:avLst/>
            <a:gdLst/>
            <a:ahLst/>
            <a:cxnLst/>
            <a:rect r="r" b="b" t="t" l="l"/>
            <a:pathLst>
              <a:path h="4114800" w="5493058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4747568">
            <a:off x="-2972342" y="3665317"/>
            <a:ext cx="4896097" cy="2735694"/>
          </a:xfrm>
          <a:custGeom>
            <a:avLst/>
            <a:gdLst/>
            <a:ahLst/>
            <a:cxnLst/>
            <a:rect r="r" b="b" t="t" l="l"/>
            <a:pathLst>
              <a:path h="2735694" w="4896097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4861154" y="-2102294"/>
            <a:ext cx="2892762" cy="2919301"/>
          </a:xfrm>
          <a:custGeom>
            <a:avLst/>
            <a:gdLst/>
            <a:ahLst/>
            <a:cxnLst/>
            <a:rect r="r" b="b" t="t" l="l"/>
            <a:pathLst>
              <a:path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7494810" y="2371030"/>
            <a:ext cx="3575541" cy="3575541"/>
          </a:xfrm>
          <a:custGeom>
            <a:avLst/>
            <a:gdLst/>
            <a:ahLst/>
            <a:cxnLst/>
            <a:rect r="r" b="b" t="t" l="l"/>
            <a:pathLst>
              <a:path h="3575541" w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2570549" y="9496827"/>
            <a:ext cx="2587020" cy="2386526"/>
          </a:xfrm>
          <a:custGeom>
            <a:avLst/>
            <a:gdLst/>
            <a:ahLst/>
            <a:cxnLst/>
            <a:rect r="r" b="b" t="t" l="l"/>
            <a:pathLst>
              <a:path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-5282649">
            <a:off x="16596506" y="6970869"/>
            <a:ext cx="3382987" cy="1154444"/>
          </a:xfrm>
          <a:custGeom>
            <a:avLst/>
            <a:gdLst/>
            <a:ahLst/>
            <a:cxnLst/>
            <a:rect r="r" b="b" t="t" l="l"/>
            <a:pathLst>
              <a:path h="1154444" w="3382987">
                <a:moveTo>
                  <a:pt x="0" y="0"/>
                </a:moveTo>
                <a:lnTo>
                  <a:pt x="3382988" y="0"/>
                </a:lnTo>
                <a:lnTo>
                  <a:pt x="3382988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7259300" y="-971659"/>
            <a:ext cx="3104522" cy="3342688"/>
          </a:xfrm>
          <a:custGeom>
            <a:avLst/>
            <a:gdLst/>
            <a:ahLst/>
            <a:cxnLst/>
            <a:rect r="r" b="b" t="t" l="l"/>
            <a:pathLst>
              <a:path h="3342688" w="3104522">
                <a:moveTo>
                  <a:pt x="0" y="0"/>
                </a:moveTo>
                <a:lnTo>
                  <a:pt x="3104522" y="0"/>
                </a:lnTo>
                <a:lnTo>
                  <a:pt x="3104522" y="3342689"/>
                </a:lnTo>
                <a:lnTo>
                  <a:pt x="0" y="3342689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2453248" y="3058192"/>
            <a:ext cx="4815813" cy="2311590"/>
          </a:xfrm>
          <a:custGeom>
            <a:avLst/>
            <a:gdLst/>
            <a:ahLst/>
            <a:cxnLst/>
            <a:rect r="r" b="b" t="t" l="l"/>
            <a:pathLst>
              <a:path h="2311590" w="4815813">
                <a:moveTo>
                  <a:pt x="0" y="0"/>
                </a:moveTo>
                <a:lnTo>
                  <a:pt x="4815812" y="0"/>
                </a:lnTo>
                <a:lnTo>
                  <a:pt x="4815812" y="2311590"/>
                </a:lnTo>
                <a:lnTo>
                  <a:pt x="0" y="2311590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242051" y="3904697"/>
            <a:ext cx="6807961" cy="1238803"/>
          </a:xfrm>
          <a:custGeom>
            <a:avLst/>
            <a:gdLst/>
            <a:ahLst/>
            <a:cxnLst/>
            <a:rect r="r" b="b" t="t" l="l"/>
            <a:pathLst>
              <a:path h="1238803" w="6807961">
                <a:moveTo>
                  <a:pt x="0" y="0"/>
                </a:moveTo>
                <a:lnTo>
                  <a:pt x="6807961" y="0"/>
                </a:lnTo>
                <a:lnTo>
                  <a:pt x="6807961" y="1238803"/>
                </a:lnTo>
                <a:lnTo>
                  <a:pt x="0" y="1238803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-1586" t="0" r="0" b="-65344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4136549" y="1992570"/>
            <a:ext cx="10014901" cy="90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89"/>
              </a:lnSpc>
            </a:pPr>
            <a:r>
              <a:rPr lang="en-US" b="true" sz="69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Аналіз ринку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7848" y="5484082"/>
            <a:ext cx="7846613" cy="3318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99" spc="16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Переваги: автоматична синхронізація з поштою, популярність</a:t>
            </a:r>
          </a:p>
          <a:p>
            <a:pPr algn="ctr">
              <a:lnSpc>
                <a:spcPts val="3779"/>
              </a:lnSpc>
            </a:pPr>
          </a:p>
          <a:p>
            <a:pPr algn="ctr">
              <a:lnSpc>
                <a:spcPts val="3779"/>
              </a:lnSpc>
            </a:pPr>
            <a:r>
              <a:rPr lang="en-US" sz="2799" spc="16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Недоліки: дорогий платний тариф, надмірно ускладнений інтерфейс, відсутність гнучкого бюджетування.</a:t>
            </a:r>
          </a:p>
          <a:p>
            <a:pPr algn="ctr" marL="0" indent="0" lvl="0">
              <a:lnSpc>
                <a:spcPts val="3779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9166061" y="5484082"/>
            <a:ext cx="8487324" cy="4271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99" spc="16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Переваги: розрахунок кілометражу й зупинок.</a:t>
            </a:r>
          </a:p>
          <a:p>
            <a:pPr algn="ctr">
              <a:lnSpc>
                <a:spcPts val="3779"/>
              </a:lnSpc>
            </a:pPr>
          </a:p>
          <a:p>
            <a:pPr algn="ctr">
              <a:lnSpc>
                <a:spcPts val="3779"/>
              </a:lnSpc>
            </a:pPr>
            <a:r>
              <a:rPr lang="en-US" sz="2799" spc="16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Недоліки: орієнтація лише на автоподорожі, обмежений ліміт точок у безкоштовній версії.</a:t>
            </a:r>
          </a:p>
          <a:p>
            <a:pPr algn="ctr">
              <a:lnSpc>
                <a:spcPts val="3779"/>
              </a:lnSpc>
            </a:pPr>
          </a:p>
          <a:p>
            <a:pPr algn="ctr">
              <a:lnSpc>
                <a:spcPts val="3779"/>
              </a:lnSpc>
            </a:pPr>
          </a:p>
          <a:p>
            <a:pPr algn="ctr" marL="0" indent="0" lvl="0">
              <a:lnSpc>
                <a:spcPts val="37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29398" y="9017983"/>
            <a:ext cx="4899948" cy="3344214"/>
          </a:xfrm>
          <a:custGeom>
            <a:avLst/>
            <a:gdLst/>
            <a:ahLst/>
            <a:cxnLst/>
            <a:rect r="r" b="b" t="t" l="l"/>
            <a:pathLst>
              <a:path h="3344214" w="4899948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47044" y="9882374"/>
            <a:ext cx="3296956" cy="809253"/>
          </a:xfrm>
          <a:custGeom>
            <a:avLst/>
            <a:gdLst/>
            <a:ahLst/>
            <a:cxnLst/>
            <a:rect r="r" b="b" t="t" l="l"/>
            <a:pathLst>
              <a:path h="809253" w="3296956">
                <a:moveTo>
                  <a:pt x="0" y="0"/>
                </a:moveTo>
                <a:lnTo>
                  <a:pt x="3296956" y="0"/>
                </a:lnTo>
                <a:lnTo>
                  <a:pt x="3296956" y="809252"/>
                </a:lnTo>
                <a:lnTo>
                  <a:pt x="0" y="8092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494772" y="9017983"/>
            <a:ext cx="4427843" cy="3481392"/>
          </a:xfrm>
          <a:custGeom>
            <a:avLst/>
            <a:gdLst/>
            <a:ahLst/>
            <a:cxnLst/>
            <a:rect r="r" b="b" t="t" l="l"/>
            <a:pathLst>
              <a:path h="3481392" w="4427843">
                <a:moveTo>
                  <a:pt x="0" y="0"/>
                </a:moveTo>
                <a:lnTo>
                  <a:pt x="4427843" y="0"/>
                </a:lnTo>
                <a:lnTo>
                  <a:pt x="4427843" y="3481391"/>
                </a:lnTo>
                <a:lnTo>
                  <a:pt x="0" y="34813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-763398" y="-1534296"/>
            <a:ext cx="4899948" cy="3068592"/>
          </a:xfrm>
          <a:custGeom>
            <a:avLst/>
            <a:gdLst/>
            <a:ahLst/>
            <a:cxnLst/>
            <a:rect r="r" b="b" t="t" l="l"/>
            <a:pathLst>
              <a:path h="3068592" w="4899948">
                <a:moveTo>
                  <a:pt x="0" y="0"/>
                </a:moveTo>
                <a:lnTo>
                  <a:pt x="4899947" y="0"/>
                </a:lnTo>
                <a:lnTo>
                  <a:pt x="4899947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2801533" y="-3053980"/>
            <a:ext cx="4292424" cy="3870986"/>
          </a:xfrm>
          <a:custGeom>
            <a:avLst/>
            <a:gdLst/>
            <a:ahLst/>
            <a:cxnLst/>
            <a:rect r="r" b="b" t="t" l="l"/>
            <a:pathLst>
              <a:path h="3870986" w="4292424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0138935" y="9258300"/>
            <a:ext cx="4076270" cy="2863579"/>
          </a:xfrm>
          <a:custGeom>
            <a:avLst/>
            <a:gdLst/>
            <a:ahLst/>
            <a:cxnLst/>
            <a:rect r="r" b="b" t="t" l="l"/>
            <a:pathLst>
              <a:path h="2863579" w="407627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7495522" y="-3297794"/>
            <a:ext cx="5493058" cy="4114800"/>
          </a:xfrm>
          <a:custGeom>
            <a:avLst/>
            <a:gdLst/>
            <a:ahLst/>
            <a:cxnLst/>
            <a:rect r="r" b="b" t="t" l="l"/>
            <a:pathLst>
              <a:path h="4114800" w="5493058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4747568">
            <a:off x="-2972342" y="3665317"/>
            <a:ext cx="4896097" cy="2735694"/>
          </a:xfrm>
          <a:custGeom>
            <a:avLst/>
            <a:gdLst/>
            <a:ahLst/>
            <a:cxnLst/>
            <a:rect r="r" b="b" t="t" l="l"/>
            <a:pathLst>
              <a:path h="2735694" w="4896097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4861154" y="-2102294"/>
            <a:ext cx="2892762" cy="2919301"/>
          </a:xfrm>
          <a:custGeom>
            <a:avLst/>
            <a:gdLst/>
            <a:ahLst/>
            <a:cxnLst/>
            <a:rect r="r" b="b" t="t" l="l"/>
            <a:pathLst>
              <a:path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7494810" y="2371030"/>
            <a:ext cx="3575541" cy="3575541"/>
          </a:xfrm>
          <a:custGeom>
            <a:avLst/>
            <a:gdLst/>
            <a:ahLst/>
            <a:cxnLst/>
            <a:rect r="r" b="b" t="t" l="l"/>
            <a:pathLst>
              <a:path h="3575541" w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2570549" y="9496827"/>
            <a:ext cx="2587020" cy="2386526"/>
          </a:xfrm>
          <a:custGeom>
            <a:avLst/>
            <a:gdLst/>
            <a:ahLst/>
            <a:cxnLst/>
            <a:rect r="r" b="b" t="t" l="l"/>
            <a:pathLst>
              <a:path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-5282649">
            <a:off x="16596506" y="6970869"/>
            <a:ext cx="3382987" cy="1154444"/>
          </a:xfrm>
          <a:custGeom>
            <a:avLst/>
            <a:gdLst/>
            <a:ahLst/>
            <a:cxnLst/>
            <a:rect r="r" b="b" t="t" l="l"/>
            <a:pathLst>
              <a:path h="1154444" w="3382987">
                <a:moveTo>
                  <a:pt x="0" y="0"/>
                </a:moveTo>
                <a:lnTo>
                  <a:pt x="3382988" y="0"/>
                </a:lnTo>
                <a:lnTo>
                  <a:pt x="3382988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7259300" y="-971659"/>
            <a:ext cx="3104522" cy="3342688"/>
          </a:xfrm>
          <a:custGeom>
            <a:avLst/>
            <a:gdLst/>
            <a:ahLst/>
            <a:cxnLst/>
            <a:rect r="r" b="b" t="t" l="l"/>
            <a:pathLst>
              <a:path h="3342688" w="3104522">
                <a:moveTo>
                  <a:pt x="0" y="0"/>
                </a:moveTo>
                <a:lnTo>
                  <a:pt x="3104522" y="0"/>
                </a:lnTo>
                <a:lnTo>
                  <a:pt x="3104522" y="3342689"/>
                </a:lnTo>
                <a:lnTo>
                  <a:pt x="0" y="3342689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5851659" y="3659447"/>
            <a:ext cx="6430896" cy="1484053"/>
          </a:xfrm>
          <a:custGeom>
            <a:avLst/>
            <a:gdLst/>
            <a:ahLst/>
            <a:cxnLst/>
            <a:rect r="r" b="b" t="t" l="l"/>
            <a:pathLst>
              <a:path h="1484053" w="6430896">
                <a:moveTo>
                  <a:pt x="0" y="0"/>
                </a:moveTo>
                <a:lnTo>
                  <a:pt x="6430896" y="0"/>
                </a:lnTo>
                <a:lnTo>
                  <a:pt x="6430896" y="1484053"/>
                </a:lnTo>
                <a:lnTo>
                  <a:pt x="0" y="1484053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-16245" t="-32663" r="-17119" b="-4220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136549" y="1992570"/>
            <a:ext cx="10014901" cy="90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89"/>
              </a:lnSpc>
            </a:pPr>
            <a:r>
              <a:rPr lang="en-US" b="true" sz="69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Аналіз ринку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878785" y="5484082"/>
            <a:ext cx="8487324" cy="3794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99" spc="16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Переваги: сучасний UI, зручні мапи, спільна робота.</a:t>
            </a:r>
          </a:p>
          <a:p>
            <a:pPr algn="ctr">
              <a:lnSpc>
                <a:spcPts val="3779"/>
              </a:lnSpc>
            </a:pPr>
          </a:p>
          <a:p>
            <a:pPr algn="ctr">
              <a:lnSpc>
                <a:spcPts val="3779"/>
              </a:lnSpc>
            </a:pPr>
            <a:r>
              <a:rPr lang="en-US" sz="2799" spc="16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Недоліки: виключно веб/мобільний клієнт, обов'язкове інтернет-з'єднання, складність швидкої локальної вибірки даних.</a:t>
            </a:r>
          </a:p>
          <a:p>
            <a:pPr algn="ctr">
              <a:lnSpc>
                <a:spcPts val="3779"/>
              </a:lnSpc>
            </a:pPr>
          </a:p>
          <a:p>
            <a:pPr algn="ctr" marL="0" indent="0" lvl="0">
              <a:lnSpc>
                <a:spcPts val="37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282649">
            <a:off x="753178" y="3852356"/>
            <a:ext cx="7567145" cy="2582288"/>
          </a:xfrm>
          <a:custGeom>
            <a:avLst/>
            <a:gdLst/>
            <a:ahLst/>
            <a:cxnLst/>
            <a:rect r="r" b="b" t="t" l="l"/>
            <a:pathLst>
              <a:path h="2582288" w="7567145">
                <a:moveTo>
                  <a:pt x="0" y="0"/>
                </a:moveTo>
                <a:lnTo>
                  <a:pt x="7567144" y="0"/>
                </a:lnTo>
                <a:lnTo>
                  <a:pt x="7567144" y="2582288"/>
                </a:lnTo>
                <a:lnTo>
                  <a:pt x="0" y="25822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780231" y="2037564"/>
            <a:ext cx="5513037" cy="6211873"/>
          </a:xfrm>
          <a:custGeom>
            <a:avLst/>
            <a:gdLst/>
            <a:ahLst/>
            <a:cxnLst/>
            <a:rect r="r" b="b" t="t" l="l"/>
            <a:pathLst>
              <a:path h="6211873" w="5513037">
                <a:moveTo>
                  <a:pt x="0" y="0"/>
                </a:moveTo>
                <a:lnTo>
                  <a:pt x="5513038" y="0"/>
                </a:lnTo>
                <a:lnTo>
                  <a:pt x="5513038" y="6211872"/>
                </a:lnTo>
                <a:lnTo>
                  <a:pt x="0" y="62118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659015" y="1219200"/>
            <a:ext cx="6996567" cy="2282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30"/>
              </a:lnSpc>
            </a:pPr>
            <a:r>
              <a:rPr lang="en-US" sz="90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Наші переваги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659015" y="4219763"/>
            <a:ext cx="7707571" cy="5223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779"/>
              </a:lnSpc>
              <a:buFont typeface="Arial"/>
              <a:buChar char="•"/>
            </a:pPr>
            <a:r>
              <a:rPr lang="en-US" sz="2799" spc="16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Швидкість</a:t>
            </a:r>
            <a:r>
              <a:rPr lang="en-US" sz="2799" spc="167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роботи на десктопі завдяки локальній базі даних</a:t>
            </a:r>
          </a:p>
          <a:p>
            <a:pPr algn="l">
              <a:lnSpc>
                <a:spcPts val="3779"/>
              </a:lnSpc>
            </a:pPr>
          </a:p>
          <a:p>
            <a:pPr algn="l" marL="604519" indent="-302260" lvl="1">
              <a:lnSpc>
                <a:spcPts val="3779"/>
              </a:lnSpc>
              <a:buFont typeface="Arial"/>
              <a:buChar char="•"/>
            </a:pPr>
            <a:r>
              <a:rPr lang="en-US" sz="2799" spc="167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Об'єднання бюджету, маршруту та списків речей в одному робочому просторі без зайвих платних підписок</a:t>
            </a:r>
          </a:p>
          <a:p>
            <a:pPr algn="l">
              <a:lnSpc>
                <a:spcPts val="3779"/>
              </a:lnSpc>
            </a:pPr>
          </a:p>
          <a:p>
            <a:pPr algn="l" marL="604519" indent="-302260" lvl="1">
              <a:lnSpc>
                <a:spcPts val="3779"/>
              </a:lnSpc>
              <a:buFont typeface="Arial"/>
              <a:buChar char="•"/>
            </a:pPr>
            <a:r>
              <a:rPr lang="en-US" sz="2799" spc="167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Прозорий інтерфейс із миттєвою валідацією та фільтрацією даних</a:t>
            </a:r>
          </a:p>
          <a:p>
            <a:pPr algn="l" marL="0" indent="0" lvl="0">
              <a:lnSpc>
                <a:spcPts val="37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261827"/>
            <a:ext cx="5038071" cy="3559266"/>
            <a:chOff x="0" y="0"/>
            <a:chExt cx="1048738" cy="7409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8738" cy="740906"/>
            </a:xfrm>
            <a:custGeom>
              <a:avLst/>
              <a:gdLst/>
              <a:ahLst/>
              <a:cxnLst/>
              <a:rect r="r" b="b" t="t" l="l"/>
              <a:pathLst>
                <a:path h="740906" w="1048738">
                  <a:moveTo>
                    <a:pt x="52247" y="0"/>
                  </a:moveTo>
                  <a:lnTo>
                    <a:pt x="996490" y="0"/>
                  </a:lnTo>
                  <a:cubicBezTo>
                    <a:pt x="1010347" y="0"/>
                    <a:pt x="1023636" y="5505"/>
                    <a:pt x="1033435" y="15303"/>
                  </a:cubicBezTo>
                  <a:cubicBezTo>
                    <a:pt x="1043233" y="25101"/>
                    <a:pt x="1048738" y="38390"/>
                    <a:pt x="1048738" y="52247"/>
                  </a:cubicBezTo>
                  <a:lnTo>
                    <a:pt x="1048738" y="688659"/>
                  </a:lnTo>
                  <a:cubicBezTo>
                    <a:pt x="1048738" y="717514"/>
                    <a:pt x="1025346" y="740906"/>
                    <a:pt x="996490" y="740906"/>
                  </a:cubicBezTo>
                  <a:lnTo>
                    <a:pt x="52247" y="740906"/>
                  </a:lnTo>
                  <a:cubicBezTo>
                    <a:pt x="23392" y="740906"/>
                    <a:pt x="0" y="717514"/>
                    <a:pt x="0" y="688659"/>
                  </a:cubicBezTo>
                  <a:lnTo>
                    <a:pt x="0" y="52247"/>
                  </a:lnTo>
                  <a:cubicBezTo>
                    <a:pt x="0" y="23392"/>
                    <a:pt x="23392" y="0"/>
                    <a:pt x="52247" y="0"/>
                  </a:cubicBezTo>
                  <a:close/>
                </a:path>
              </a:pathLst>
            </a:custGeom>
            <a:solidFill>
              <a:srgbClr val="8AB7E2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48738" cy="7790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5370657"/>
            <a:ext cx="5038071" cy="3559266"/>
            <a:chOff x="0" y="0"/>
            <a:chExt cx="1048738" cy="74090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48738" cy="740906"/>
            </a:xfrm>
            <a:custGeom>
              <a:avLst/>
              <a:gdLst/>
              <a:ahLst/>
              <a:cxnLst/>
              <a:rect r="r" b="b" t="t" l="l"/>
              <a:pathLst>
                <a:path h="740906" w="1048738">
                  <a:moveTo>
                    <a:pt x="52247" y="0"/>
                  </a:moveTo>
                  <a:lnTo>
                    <a:pt x="996490" y="0"/>
                  </a:lnTo>
                  <a:cubicBezTo>
                    <a:pt x="1010347" y="0"/>
                    <a:pt x="1023636" y="5505"/>
                    <a:pt x="1033435" y="15303"/>
                  </a:cubicBezTo>
                  <a:cubicBezTo>
                    <a:pt x="1043233" y="25101"/>
                    <a:pt x="1048738" y="38390"/>
                    <a:pt x="1048738" y="52247"/>
                  </a:cubicBezTo>
                  <a:lnTo>
                    <a:pt x="1048738" y="688659"/>
                  </a:lnTo>
                  <a:cubicBezTo>
                    <a:pt x="1048738" y="717514"/>
                    <a:pt x="1025346" y="740906"/>
                    <a:pt x="996490" y="740906"/>
                  </a:cubicBezTo>
                  <a:lnTo>
                    <a:pt x="52247" y="740906"/>
                  </a:lnTo>
                  <a:cubicBezTo>
                    <a:pt x="23392" y="740906"/>
                    <a:pt x="0" y="717514"/>
                    <a:pt x="0" y="688659"/>
                  </a:cubicBezTo>
                  <a:lnTo>
                    <a:pt x="0" y="52247"/>
                  </a:lnTo>
                  <a:cubicBezTo>
                    <a:pt x="0" y="23392"/>
                    <a:pt x="23392" y="0"/>
                    <a:pt x="52247" y="0"/>
                  </a:cubicBezTo>
                  <a:close/>
                </a:path>
              </a:pathLst>
            </a:custGeom>
            <a:solidFill>
              <a:srgbClr val="8AB7E2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48738" cy="7790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92531" y="1261827"/>
            <a:ext cx="5038071" cy="3559266"/>
            <a:chOff x="0" y="0"/>
            <a:chExt cx="1048738" cy="7409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8738" cy="740906"/>
            </a:xfrm>
            <a:custGeom>
              <a:avLst/>
              <a:gdLst/>
              <a:ahLst/>
              <a:cxnLst/>
              <a:rect r="r" b="b" t="t" l="l"/>
              <a:pathLst>
                <a:path h="740906" w="1048738">
                  <a:moveTo>
                    <a:pt x="52247" y="0"/>
                  </a:moveTo>
                  <a:lnTo>
                    <a:pt x="996490" y="0"/>
                  </a:lnTo>
                  <a:cubicBezTo>
                    <a:pt x="1010347" y="0"/>
                    <a:pt x="1023636" y="5505"/>
                    <a:pt x="1033435" y="15303"/>
                  </a:cubicBezTo>
                  <a:cubicBezTo>
                    <a:pt x="1043233" y="25101"/>
                    <a:pt x="1048738" y="38390"/>
                    <a:pt x="1048738" y="52247"/>
                  </a:cubicBezTo>
                  <a:lnTo>
                    <a:pt x="1048738" y="688659"/>
                  </a:lnTo>
                  <a:cubicBezTo>
                    <a:pt x="1048738" y="717514"/>
                    <a:pt x="1025346" y="740906"/>
                    <a:pt x="996490" y="740906"/>
                  </a:cubicBezTo>
                  <a:lnTo>
                    <a:pt x="52247" y="740906"/>
                  </a:lnTo>
                  <a:cubicBezTo>
                    <a:pt x="23392" y="740906"/>
                    <a:pt x="0" y="717514"/>
                    <a:pt x="0" y="688659"/>
                  </a:cubicBezTo>
                  <a:lnTo>
                    <a:pt x="0" y="52247"/>
                  </a:lnTo>
                  <a:cubicBezTo>
                    <a:pt x="0" y="23392"/>
                    <a:pt x="23392" y="0"/>
                    <a:pt x="52247" y="0"/>
                  </a:cubicBezTo>
                  <a:close/>
                </a:path>
              </a:pathLst>
            </a:custGeom>
            <a:solidFill>
              <a:srgbClr val="8AB7E2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48738" cy="7790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92531" y="5370657"/>
            <a:ext cx="5038071" cy="3559266"/>
            <a:chOff x="0" y="0"/>
            <a:chExt cx="1048738" cy="74090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48738" cy="740906"/>
            </a:xfrm>
            <a:custGeom>
              <a:avLst/>
              <a:gdLst/>
              <a:ahLst/>
              <a:cxnLst/>
              <a:rect r="r" b="b" t="t" l="l"/>
              <a:pathLst>
                <a:path h="740906" w="1048738">
                  <a:moveTo>
                    <a:pt x="52247" y="0"/>
                  </a:moveTo>
                  <a:lnTo>
                    <a:pt x="996490" y="0"/>
                  </a:lnTo>
                  <a:cubicBezTo>
                    <a:pt x="1010347" y="0"/>
                    <a:pt x="1023636" y="5505"/>
                    <a:pt x="1033435" y="15303"/>
                  </a:cubicBezTo>
                  <a:cubicBezTo>
                    <a:pt x="1043233" y="25101"/>
                    <a:pt x="1048738" y="38390"/>
                    <a:pt x="1048738" y="52247"/>
                  </a:cubicBezTo>
                  <a:lnTo>
                    <a:pt x="1048738" y="688659"/>
                  </a:lnTo>
                  <a:cubicBezTo>
                    <a:pt x="1048738" y="717514"/>
                    <a:pt x="1025346" y="740906"/>
                    <a:pt x="996490" y="740906"/>
                  </a:cubicBezTo>
                  <a:lnTo>
                    <a:pt x="52247" y="740906"/>
                  </a:lnTo>
                  <a:cubicBezTo>
                    <a:pt x="23392" y="740906"/>
                    <a:pt x="0" y="717514"/>
                    <a:pt x="0" y="688659"/>
                  </a:cubicBezTo>
                  <a:lnTo>
                    <a:pt x="0" y="52247"/>
                  </a:lnTo>
                  <a:cubicBezTo>
                    <a:pt x="0" y="23392"/>
                    <a:pt x="23392" y="0"/>
                    <a:pt x="52247" y="0"/>
                  </a:cubicBezTo>
                  <a:close/>
                </a:path>
              </a:pathLst>
            </a:custGeom>
            <a:solidFill>
              <a:srgbClr val="8AB7E2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48738" cy="7790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1261827"/>
            <a:ext cx="5038071" cy="668736"/>
            <a:chOff x="0" y="0"/>
            <a:chExt cx="1048738" cy="13920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48738" cy="139206"/>
            </a:xfrm>
            <a:custGeom>
              <a:avLst/>
              <a:gdLst/>
              <a:ahLst/>
              <a:cxnLst/>
              <a:rect r="r" b="b" t="t" l="l"/>
              <a:pathLst>
                <a:path h="139206" w="1048738">
                  <a:moveTo>
                    <a:pt x="26124" y="0"/>
                  </a:moveTo>
                  <a:lnTo>
                    <a:pt x="1022614" y="0"/>
                  </a:lnTo>
                  <a:cubicBezTo>
                    <a:pt x="1029542" y="0"/>
                    <a:pt x="1036187" y="2752"/>
                    <a:pt x="1041086" y="7651"/>
                  </a:cubicBezTo>
                  <a:cubicBezTo>
                    <a:pt x="1045985" y="12551"/>
                    <a:pt x="1048738" y="19195"/>
                    <a:pt x="1048738" y="26124"/>
                  </a:cubicBezTo>
                  <a:lnTo>
                    <a:pt x="1048738" y="113082"/>
                  </a:lnTo>
                  <a:cubicBezTo>
                    <a:pt x="1048738" y="127510"/>
                    <a:pt x="1037042" y="139206"/>
                    <a:pt x="1022614" y="139206"/>
                  </a:cubicBezTo>
                  <a:lnTo>
                    <a:pt x="26124" y="139206"/>
                  </a:lnTo>
                  <a:cubicBezTo>
                    <a:pt x="19195" y="139206"/>
                    <a:pt x="12551" y="136454"/>
                    <a:pt x="7651" y="131554"/>
                  </a:cubicBezTo>
                  <a:cubicBezTo>
                    <a:pt x="2752" y="126655"/>
                    <a:pt x="0" y="120011"/>
                    <a:pt x="0" y="113082"/>
                  </a:cubicBezTo>
                  <a:lnTo>
                    <a:pt x="0" y="26124"/>
                  </a:lnTo>
                  <a:cubicBezTo>
                    <a:pt x="0" y="11696"/>
                    <a:pt x="11696" y="0"/>
                    <a:pt x="2612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48738" cy="1773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28700" y="5370657"/>
            <a:ext cx="5038071" cy="668736"/>
            <a:chOff x="0" y="0"/>
            <a:chExt cx="1048738" cy="13920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48738" cy="139206"/>
            </a:xfrm>
            <a:custGeom>
              <a:avLst/>
              <a:gdLst/>
              <a:ahLst/>
              <a:cxnLst/>
              <a:rect r="r" b="b" t="t" l="l"/>
              <a:pathLst>
                <a:path h="139206" w="1048738">
                  <a:moveTo>
                    <a:pt x="26124" y="0"/>
                  </a:moveTo>
                  <a:lnTo>
                    <a:pt x="1022614" y="0"/>
                  </a:lnTo>
                  <a:cubicBezTo>
                    <a:pt x="1029542" y="0"/>
                    <a:pt x="1036187" y="2752"/>
                    <a:pt x="1041086" y="7651"/>
                  </a:cubicBezTo>
                  <a:cubicBezTo>
                    <a:pt x="1045985" y="12551"/>
                    <a:pt x="1048738" y="19195"/>
                    <a:pt x="1048738" y="26124"/>
                  </a:cubicBezTo>
                  <a:lnTo>
                    <a:pt x="1048738" y="113082"/>
                  </a:lnTo>
                  <a:cubicBezTo>
                    <a:pt x="1048738" y="127510"/>
                    <a:pt x="1037042" y="139206"/>
                    <a:pt x="1022614" y="139206"/>
                  </a:cubicBezTo>
                  <a:lnTo>
                    <a:pt x="26124" y="139206"/>
                  </a:lnTo>
                  <a:cubicBezTo>
                    <a:pt x="19195" y="139206"/>
                    <a:pt x="12551" y="136454"/>
                    <a:pt x="7651" y="131554"/>
                  </a:cubicBezTo>
                  <a:cubicBezTo>
                    <a:pt x="2752" y="126655"/>
                    <a:pt x="0" y="120011"/>
                    <a:pt x="0" y="113082"/>
                  </a:cubicBezTo>
                  <a:lnTo>
                    <a:pt x="0" y="26124"/>
                  </a:lnTo>
                  <a:cubicBezTo>
                    <a:pt x="0" y="11696"/>
                    <a:pt x="11696" y="0"/>
                    <a:pt x="2612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048738" cy="1773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692531" y="1261827"/>
            <a:ext cx="5038071" cy="668736"/>
            <a:chOff x="0" y="0"/>
            <a:chExt cx="1048738" cy="13920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48738" cy="139206"/>
            </a:xfrm>
            <a:custGeom>
              <a:avLst/>
              <a:gdLst/>
              <a:ahLst/>
              <a:cxnLst/>
              <a:rect r="r" b="b" t="t" l="l"/>
              <a:pathLst>
                <a:path h="139206" w="1048738">
                  <a:moveTo>
                    <a:pt x="26124" y="0"/>
                  </a:moveTo>
                  <a:lnTo>
                    <a:pt x="1022614" y="0"/>
                  </a:lnTo>
                  <a:cubicBezTo>
                    <a:pt x="1029542" y="0"/>
                    <a:pt x="1036187" y="2752"/>
                    <a:pt x="1041086" y="7651"/>
                  </a:cubicBezTo>
                  <a:cubicBezTo>
                    <a:pt x="1045985" y="12551"/>
                    <a:pt x="1048738" y="19195"/>
                    <a:pt x="1048738" y="26124"/>
                  </a:cubicBezTo>
                  <a:lnTo>
                    <a:pt x="1048738" y="113082"/>
                  </a:lnTo>
                  <a:cubicBezTo>
                    <a:pt x="1048738" y="127510"/>
                    <a:pt x="1037042" y="139206"/>
                    <a:pt x="1022614" y="139206"/>
                  </a:cubicBezTo>
                  <a:lnTo>
                    <a:pt x="26124" y="139206"/>
                  </a:lnTo>
                  <a:cubicBezTo>
                    <a:pt x="19195" y="139206"/>
                    <a:pt x="12551" y="136454"/>
                    <a:pt x="7651" y="131554"/>
                  </a:cubicBezTo>
                  <a:cubicBezTo>
                    <a:pt x="2752" y="126655"/>
                    <a:pt x="0" y="120011"/>
                    <a:pt x="0" y="113082"/>
                  </a:cubicBezTo>
                  <a:lnTo>
                    <a:pt x="0" y="26124"/>
                  </a:lnTo>
                  <a:cubicBezTo>
                    <a:pt x="0" y="11696"/>
                    <a:pt x="11696" y="0"/>
                    <a:pt x="2612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048738" cy="1773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692531" y="5370657"/>
            <a:ext cx="5038071" cy="668736"/>
            <a:chOff x="0" y="0"/>
            <a:chExt cx="1048738" cy="13920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48738" cy="139206"/>
            </a:xfrm>
            <a:custGeom>
              <a:avLst/>
              <a:gdLst/>
              <a:ahLst/>
              <a:cxnLst/>
              <a:rect r="r" b="b" t="t" l="l"/>
              <a:pathLst>
                <a:path h="139206" w="1048738">
                  <a:moveTo>
                    <a:pt x="26124" y="0"/>
                  </a:moveTo>
                  <a:lnTo>
                    <a:pt x="1022614" y="0"/>
                  </a:lnTo>
                  <a:cubicBezTo>
                    <a:pt x="1029542" y="0"/>
                    <a:pt x="1036187" y="2752"/>
                    <a:pt x="1041086" y="7651"/>
                  </a:cubicBezTo>
                  <a:cubicBezTo>
                    <a:pt x="1045985" y="12551"/>
                    <a:pt x="1048738" y="19195"/>
                    <a:pt x="1048738" y="26124"/>
                  </a:cubicBezTo>
                  <a:lnTo>
                    <a:pt x="1048738" y="113082"/>
                  </a:lnTo>
                  <a:cubicBezTo>
                    <a:pt x="1048738" y="127510"/>
                    <a:pt x="1037042" y="139206"/>
                    <a:pt x="1022614" y="139206"/>
                  </a:cubicBezTo>
                  <a:lnTo>
                    <a:pt x="26124" y="139206"/>
                  </a:lnTo>
                  <a:cubicBezTo>
                    <a:pt x="19195" y="139206"/>
                    <a:pt x="12551" y="136454"/>
                    <a:pt x="7651" y="131554"/>
                  </a:cubicBezTo>
                  <a:cubicBezTo>
                    <a:pt x="2752" y="126655"/>
                    <a:pt x="0" y="120011"/>
                    <a:pt x="0" y="113082"/>
                  </a:cubicBezTo>
                  <a:lnTo>
                    <a:pt x="0" y="26124"/>
                  </a:lnTo>
                  <a:cubicBezTo>
                    <a:pt x="0" y="11696"/>
                    <a:pt x="11696" y="0"/>
                    <a:pt x="2612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048738" cy="1773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345712" y="1452532"/>
            <a:ext cx="3739422" cy="313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5"/>
              </a:lnSpc>
            </a:pPr>
            <a:r>
              <a:rPr lang="en-US" sz="213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Остап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062826" y="1452532"/>
            <a:ext cx="3739422" cy="313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5"/>
              </a:lnSpc>
            </a:pPr>
            <a:r>
              <a:rPr lang="en-US" sz="213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Ніка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45712" y="5554049"/>
            <a:ext cx="4137951" cy="313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5"/>
              </a:lnSpc>
            </a:pPr>
            <a:r>
              <a:rPr lang="en-US" sz="213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Артем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062826" y="5554049"/>
            <a:ext cx="3558025" cy="313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5"/>
              </a:lnSpc>
            </a:pPr>
            <a:r>
              <a:rPr lang="en-US" sz="213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Настя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45712" y="2381812"/>
            <a:ext cx="4137951" cy="1064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sz="1600" spc="9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Створено репозиторій на GitHub, налаштовано дошку Projects та внесено посилання в загальну таблицю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78760" y="6487068"/>
            <a:ext cx="4137951" cy="1331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sz="1600" spc="9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Сформовано мету застосунку, опис проблем, які він вирішує та типи користувачів для презентації; оформлено вимоги до застосунку; офомлено README.md файл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062826" y="6487068"/>
            <a:ext cx="4137951" cy="1064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sz="1600" spc="9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Підготовлено фінальну структуру презентації, зверстано слайди, зібрано всю отриману інформацію до купи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075025" y="2381812"/>
            <a:ext cx="4137951" cy="1064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sz="1600" spc="9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Проведено порівняльний аналіз 3 застосунків аналогів на ринку, виділено їхні переваги та недоліки і порівняно з нашим застосунком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-10800000">
            <a:off x="14827993" y="-1392447"/>
            <a:ext cx="4017146" cy="3158481"/>
          </a:xfrm>
          <a:custGeom>
            <a:avLst/>
            <a:gdLst/>
            <a:ahLst/>
            <a:cxnLst/>
            <a:rect r="r" b="b" t="t" l="l"/>
            <a:pathLst>
              <a:path h="3158481" w="4017146">
                <a:moveTo>
                  <a:pt x="0" y="0"/>
                </a:moveTo>
                <a:lnTo>
                  <a:pt x="4017147" y="0"/>
                </a:lnTo>
                <a:lnTo>
                  <a:pt x="4017147" y="3158481"/>
                </a:lnTo>
                <a:lnTo>
                  <a:pt x="0" y="3158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5" id="35"/>
          <p:cNvSpPr/>
          <p:nvPr/>
        </p:nvSpPr>
        <p:spPr>
          <a:xfrm flipH="false" flipV="false" rot="0">
            <a:off x="4580296" y="-1616873"/>
            <a:ext cx="4224468" cy="2645573"/>
          </a:xfrm>
          <a:custGeom>
            <a:avLst/>
            <a:gdLst/>
            <a:ahLst/>
            <a:cxnLst/>
            <a:rect r="r" b="b" t="t" l="l"/>
            <a:pathLst>
              <a:path h="2645573" w="4224468">
                <a:moveTo>
                  <a:pt x="0" y="0"/>
                </a:moveTo>
                <a:lnTo>
                  <a:pt x="4224469" y="0"/>
                </a:lnTo>
                <a:lnTo>
                  <a:pt x="4224469" y="2645573"/>
                </a:lnTo>
                <a:lnTo>
                  <a:pt x="0" y="26455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6" id="36"/>
          <p:cNvSpPr/>
          <p:nvPr/>
        </p:nvSpPr>
        <p:spPr>
          <a:xfrm flipH="false" flipV="false" rot="0">
            <a:off x="8285780" y="9560661"/>
            <a:ext cx="3169280" cy="2226419"/>
          </a:xfrm>
          <a:custGeom>
            <a:avLst/>
            <a:gdLst/>
            <a:ahLst/>
            <a:cxnLst/>
            <a:rect r="r" b="b" t="t" l="l"/>
            <a:pathLst>
              <a:path h="2226419" w="3169280">
                <a:moveTo>
                  <a:pt x="0" y="0"/>
                </a:moveTo>
                <a:lnTo>
                  <a:pt x="3169280" y="0"/>
                </a:lnTo>
                <a:lnTo>
                  <a:pt x="3169280" y="2226419"/>
                </a:lnTo>
                <a:lnTo>
                  <a:pt x="0" y="22264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7" id="37"/>
          <p:cNvSpPr/>
          <p:nvPr/>
        </p:nvSpPr>
        <p:spPr>
          <a:xfrm flipH="false" flipV="false" rot="-5400000">
            <a:off x="12134412" y="9245030"/>
            <a:ext cx="2892762" cy="2919301"/>
          </a:xfrm>
          <a:custGeom>
            <a:avLst/>
            <a:gdLst/>
            <a:ahLst/>
            <a:cxnLst/>
            <a:rect r="r" b="b" t="t" l="l"/>
            <a:pathLst>
              <a:path h="2919301" w="2892762">
                <a:moveTo>
                  <a:pt x="0" y="0"/>
                </a:moveTo>
                <a:lnTo>
                  <a:pt x="2892762" y="0"/>
                </a:lnTo>
                <a:lnTo>
                  <a:pt x="2892762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8" id="38"/>
          <p:cNvSpPr/>
          <p:nvPr/>
        </p:nvSpPr>
        <p:spPr>
          <a:xfrm flipH="false" flipV="false" rot="0">
            <a:off x="-1558320" y="9093737"/>
            <a:ext cx="2587020" cy="2386526"/>
          </a:xfrm>
          <a:custGeom>
            <a:avLst/>
            <a:gdLst/>
            <a:ahLst/>
            <a:cxnLst/>
            <a:rect r="r" b="b" t="t" l="l"/>
            <a:pathLst>
              <a:path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9" id="39"/>
          <p:cNvSpPr/>
          <p:nvPr/>
        </p:nvSpPr>
        <p:spPr>
          <a:xfrm flipH="false" flipV="false" rot="0">
            <a:off x="17259300" y="7433853"/>
            <a:ext cx="1794966" cy="1932669"/>
          </a:xfrm>
          <a:custGeom>
            <a:avLst/>
            <a:gdLst/>
            <a:ahLst/>
            <a:cxnLst/>
            <a:rect r="r" b="b" t="t" l="l"/>
            <a:pathLst>
              <a:path h="1932669" w="1794966">
                <a:moveTo>
                  <a:pt x="0" y="0"/>
                </a:moveTo>
                <a:lnTo>
                  <a:pt x="1794966" y="0"/>
                </a:lnTo>
                <a:lnTo>
                  <a:pt x="1794966" y="1932669"/>
                </a:lnTo>
                <a:lnTo>
                  <a:pt x="0" y="193266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0" id="40"/>
          <p:cNvSpPr/>
          <p:nvPr/>
        </p:nvSpPr>
        <p:spPr>
          <a:xfrm flipH="false" flipV="false" rot="0">
            <a:off x="-744232" y="460501"/>
            <a:ext cx="1488463" cy="1602652"/>
          </a:xfrm>
          <a:custGeom>
            <a:avLst/>
            <a:gdLst/>
            <a:ahLst/>
            <a:cxnLst/>
            <a:rect r="r" b="b" t="t" l="l"/>
            <a:pathLst>
              <a:path h="1602652" w="1488463">
                <a:moveTo>
                  <a:pt x="0" y="0"/>
                </a:moveTo>
                <a:lnTo>
                  <a:pt x="1488464" y="0"/>
                </a:lnTo>
                <a:lnTo>
                  <a:pt x="1488464" y="1602652"/>
                </a:lnTo>
                <a:lnTo>
                  <a:pt x="0" y="160265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1" id="41"/>
          <p:cNvSpPr txBox="true"/>
          <p:nvPr/>
        </p:nvSpPr>
        <p:spPr>
          <a:xfrm rot="0">
            <a:off x="12359252" y="3894628"/>
            <a:ext cx="6996567" cy="2024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60"/>
              </a:lnSpc>
            </a:pPr>
            <a:r>
              <a:rPr lang="en-US" sz="80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Перше</a:t>
            </a:r>
          </a:p>
          <a:p>
            <a:pPr algn="l">
              <a:lnSpc>
                <a:spcPts val="7760"/>
              </a:lnSpc>
            </a:pPr>
            <a:r>
              <a:rPr lang="en-US" sz="80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завдання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29398" y="8614893"/>
            <a:ext cx="4899948" cy="3344214"/>
          </a:xfrm>
          <a:custGeom>
            <a:avLst/>
            <a:gdLst/>
            <a:ahLst/>
            <a:cxnLst/>
            <a:rect r="r" b="b" t="t" l="l"/>
            <a:pathLst>
              <a:path h="3344214" w="4899948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030709" y="9258300"/>
            <a:ext cx="3059829" cy="751049"/>
          </a:xfrm>
          <a:custGeom>
            <a:avLst/>
            <a:gdLst/>
            <a:ahLst/>
            <a:cxnLst/>
            <a:rect r="r" b="b" t="t" l="l"/>
            <a:pathLst>
              <a:path h="751049" w="3059829">
                <a:moveTo>
                  <a:pt x="0" y="0"/>
                </a:moveTo>
                <a:lnTo>
                  <a:pt x="3059829" y="0"/>
                </a:lnTo>
                <a:lnTo>
                  <a:pt x="3059829" y="751049"/>
                </a:lnTo>
                <a:lnTo>
                  <a:pt x="0" y="7510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215205" y="8540136"/>
            <a:ext cx="4602314" cy="3618569"/>
          </a:xfrm>
          <a:custGeom>
            <a:avLst/>
            <a:gdLst/>
            <a:ahLst/>
            <a:cxnLst/>
            <a:rect r="r" b="b" t="t" l="l"/>
            <a:pathLst>
              <a:path h="3618569" w="4602314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-674156" y="-1072630"/>
            <a:ext cx="4899948" cy="3068592"/>
          </a:xfrm>
          <a:custGeom>
            <a:avLst/>
            <a:gdLst/>
            <a:ahLst/>
            <a:cxnLst/>
            <a:rect r="r" b="b" t="t" l="l"/>
            <a:pathLst>
              <a:path h="3068592" w="4899948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2686214" y="-2578193"/>
            <a:ext cx="4292424" cy="3870986"/>
          </a:xfrm>
          <a:custGeom>
            <a:avLst/>
            <a:gdLst/>
            <a:ahLst/>
            <a:cxnLst/>
            <a:rect r="r" b="b" t="t" l="l"/>
            <a:pathLst>
              <a:path h="3870986" w="4292424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0138935" y="9258300"/>
            <a:ext cx="4076270" cy="2863579"/>
          </a:xfrm>
          <a:custGeom>
            <a:avLst/>
            <a:gdLst/>
            <a:ahLst/>
            <a:cxnLst/>
            <a:rect r="r" b="b" t="t" l="l"/>
            <a:pathLst>
              <a:path h="2863579" w="407627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7409323" y="-2700100"/>
            <a:ext cx="5493058" cy="4114800"/>
          </a:xfrm>
          <a:custGeom>
            <a:avLst/>
            <a:gdLst/>
            <a:ahLst/>
            <a:cxnLst/>
            <a:rect r="r" b="b" t="t" l="l"/>
            <a:pathLst>
              <a:path h="4114800" w="5493058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4747568">
            <a:off x="-2972342" y="3665317"/>
            <a:ext cx="4896097" cy="2735694"/>
          </a:xfrm>
          <a:custGeom>
            <a:avLst/>
            <a:gdLst/>
            <a:ahLst/>
            <a:cxnLst/>
            <a:rect r="r" b="b" t="t" l="l"/>
            <a:pathLst>
              <a:path h="2735694" w="4896097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4831481" y="-1626507"/>
            <a:ext cx="2892762" cy="2919301"/>
          </a:xfrm>
          <a:custGeom>
            <a:avLst/>
            <a:gdLst/>
            <a:ahLst/>
            <a:cxnLst/>
            <a:rect r="r" b="b" t="t" l="l"/>
            <a:pathLst>
              <a:path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7259300" y="2262342"/>
            <a:ext cx="3575541" cy="3575541"/>
          </a:xfrm>
          <a:custGeom>
            <a:avLst/>
            <a:gdLst/>
            <a:ahLst/>
            <a:cxnLst/>
            <a:rect r="r" b="b" t="t" l="l"/>
            <a:pathLst>
              <a:path h="3575541" w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2570549" y="9093737"/>
            <a:ext cx="2587020" cy="2386526"/>
          </a:xfrm>
          <a:custGeom>
            <a:avLst/>
            <a:gdLst/>
            <a:ahLst/>
            <a:cxnLst/>
            <a:rect r="r" b="b" t="t" l="l"/>
            <a:pathLst>
              <a:path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-5282649">
            <a:off x="16440369" y="6970869"/>
            <a:ext cx="3382987" cy="1154444"/>
          </a:xfrm>
          <a:custGeom>
            <a:avLst/>
            <a:gdLst/>
            <a:ahLst/>
            <a:cxnLst/>
            <a:rect r="r" b="b" t="t" l="l"/>
            <a:pathLst>
              <a:path h="1154444" w="3382987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6978638" y="-642644"/>
            <a:ext cx="3104522" cy="3342688"/>
          </a:xfrm>
          <a:custGeom>
            <a:avLst/>
            <a:gdLst/>
            <a:ahLst/>
            <a:cxnLst/>
            <a:rect r="r" b="b" t="t" l="l"/>
            <a:pathLst>
              <a:path h="3342688" w="3104522">
                <a:moveTo>
                  <a:pt x="0" y="0"/>
                </a:moveTo>
                <a:lnTo>
                  <a:pt x="3104522" y="0"/>
                </a:lnTo>
                <a:lnTo>
                  <a:pt x="3104522" y="3342688"/>
                </a:lnTo>
                <a:lnTo>
                  <a:pt x="0" y="3342688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5" id="15"/>
          <p:cNvSpPr txBox="true"/>
          <p:nvPr/>
        </p:nvSpPr>
        <p:spPr>
          <a:xfrm rot="0">
            <a:off x="3688802" y="4759072"/>
            <a:ext cx="10910396" cy="1054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55"/>
              </a:lnSpc>
            </a:pPr>
            <a:r>
              <a:rPr lang="en-US" b="true" sz="8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Дякуємо за увагу!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DAHUjn1KstQ</dc:identifier>
  <dcterms:modified xsi:type="dcterms:W3CDTF">2011-08-01T06:04:30Z</dcterms:modified>
  <cp:revision>1</cp:revision>
  <dc:title>TripFlow1</dc:title>
</cp:coreProperties>
</file>